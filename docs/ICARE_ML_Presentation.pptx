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51c4381-45ba-0ef9-2231-8ce46d189511}">
          <p14:sldIdLst>
            <p14:sldId id="256"/>
            <p14:sldId id="257"/>
            <p14:sldId id="258"/>
          </p14:sldIdLst>
        </p14:section>
        <p14:section name="Data &amp; Method" id="{4c1e18ea-e46a-72a5-18f1-71009156e289}">
          <p14:sldIdLst>
            <p14:sldId id="259"/>
            <p14:sldId id="260"/>
            <p14:sldId id="261"/>
            <p14:sldId id="262"/>
            <p14:sldId id="263"/>
          </p14:sldIdLst>
        </p14:section>
        <p14:section name="Results" id="{555bfc9c-8d7b-1bbe-6810-cedad1829b80}">
          <p14:sldIdLst>
            <p14:sldId id="264"/>
            <p14:sldId id="265"/>
            <p14:sldId id="266"/>
            <p14:sldId id="267"/>
          </p14:sldIdLst>
        </p14:section>
        <p14:section name="Conclusion" id="{555fde96-ac4f-7f06-5996-18287aa14fb1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4F8F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F4F8FC"/>
                </a:solidFill>
                <a:latin typeface="+mn-lt"/>
              </a:rPr>
              <a:t>Test MAE (mmHg, lower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MAE</c:v>
                </c:pt>
              </c:strCache>
            </c:strRef>
          </c:tx>
          <c:spPr>
            <a:solidFill>
              <a:srgbClr val="3AD2E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4F8F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Identity (GAT = iCare)</c:v>
                  </c:pt>
                  <c:pt idx="1">
                    <c:v>Linear (iCare only)</c:v>
                  </c:pt>
                  <c:pt idx="2">
                    <c:v>Linear (iCare + CCT)</c:v>
                  </c:pt>
                  <c:pt idx="3">
                    <c:v>Random Forest (depth 4)</c:v>
                  </c:pt>
                  <c:pt idx="4">
                    <c:v>SVR (RBF, tuned)</c:v>
                  </c:pt>
                  <c:pt idx="5">
                    <c:v>XGBoost (tuned)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3.214</c:v>
                </c:pt>
                <c:pt idx="1">
                  <c:v>3.005</c:v>
                </c:pt>
                <c:pt idx="2">
                  <c:v>3.002</c:v>
                </c:pt>
                <c:pt idx="3">
                  <c:v>2.92</c:v>
                </c:pt>
                <c:pt idx="4">
                  <c:v>2.912</c:v>
                </c:pt>
                <c:pt idx="5">
                  <c:v>2.901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F4F8F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4F8F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6"/>
          <c:min val="0"/>
        </c:scaling>
        <c:delete val="0"/>
        <c:axPos val="b"/>
        <c:majorGridlines>
          <c:spPr>
            <a:ln w="9525" cap="flat">
              <a:solidFill>
                <a:srgbClr val="1B315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4B5C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4F8F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F4F8FC"/>
                </a:solidFill>
                <a:latin typeface="+mn-lt"/>
              </a:rPr>
              <a:t>Validation MAE (mmHg) by GAT IOP band (eyes)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3AD2E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4F8F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&lt;10 (15)</c:v>
                  </c:pt>
                  <c:pt idx="1">
                    <c:v>10–20 (641)</c:v>
                  </c:pt>
                  <c:pt idx="2">
                    <c:v>20–30 (267)</c:v>
                  </c:pt>
                  <c:pt idx="3">
                    <c:v>30–40 (55)</c:v>
                  </c:pt>
                  <c:pt idx="4">
                    <c:v>40+ (23)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3.73</c:v>
                </c:pt>
                <c:pt idx="1">
                  <c:v>2.09</c:v>
                </c:pt>
                <c:pt idx="2">
                  <c:v>3.11</c:v>
                </c:pt>
                <c:pt idx="3">
                  <c:v>6.76</c:v>
                </c:pt>
                <c:pt idx="4">
                  <c:v>9.24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SVR</c:v>
                </c:pt>
              </c:strCache>
            </c:strRef>
          </c:tx>
          <c:spPr>
            <a:solidFill>
              <a:srgbClr val="6FE6B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4F8F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&lt;10 (15)</c:v>
                  </c:pt>
                  <c:pt idx="1">
                    <c:v>10–20 (641)</c:v>
                  </c:pt>
                  <c:pt idx="2">
                    <c:v>20–30 (267)</c:v>
                  </c:pt>
                  <c:pt idx="3">
                    <c:v>30–40 (55)</c:v>
                  </c:pt>
                  <c:pt idx="4">
                    <c:v>40+ (23)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3.26</c:v>
                </c:pt>
                <c:pt idx="1">
                  <c:v>1.97</c:v>
                </c:pt>
                <c:pt idx="2">
                  <c:v>3.4</c:v>
                </c:pt>
                <c:pt idx="3">
                  <c:v>7.25</c:v>
                </c:pt>
                <c:pt idx="4">
                  <c:v>9.26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Raw iCare</c:v>
                </c:pt>
              </c:strCache>
            </c:strRef>
          </c:tx>
          <c:spPr>
            <a:solidFill>
              <a:srgbClr val="FFAE5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4F8F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&lt;10 (15)</c:v>
                  </c:pt>
                  <c:pt idx="1">
                    <c:v>10–20 (641)</c:v>
                  </c:pt>
                  <c:pt idx="2">
                    <c:v>20–30 (267)</c:v>
                  </c:pt>
                  <c:pt idx="3">
                    <c:v>30–40 (55)</c:v>
                  </c:pt>
                  <c:pt idx="4">
                    <c:v>40+ (23)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2.46</c:v>
                </c:pt>
                <c:pt idx="2">
                  <c:v>3.3</c:v>
                </c:pt>
                <c:pt idx="3">
                  <c:v>5.91</c:v>
                </c:pt>
                <c:pt idx="4">
                  <c:v>8.78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F4F8F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4F8F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1B31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4B5C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4F8F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goal: estimate the Goldmann (GAT) IOP an eye would have had, from its iCare reading and CCT. 6,639 cleaned eyes, two inputs, five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 is accurate but impractical outside the clinic. iCare is convenient but disagrees with GAT. The project asks whether ML can close that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inputs only. Age was in the original plan but is not available in the data. Any model is judged against reading iCare as-is and a straight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sequential cleaning stages turn the raw hospital export into one row per eye. The split is by patient so no patient's eyes appear in both training and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target is a continuous pressure, so regression is the right framing.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model families with their final tuned settings, plus two non-ML baselines that set the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GroupKFold keeps both eyes of a patient in the same fold; plain KFold would leak one eye into training and flatter the score. The test set was never used to choose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is the measured GAT IOP, y-hat the prediction, y-bar the mean. MAE is the headline because it reads directly in mmHg.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Bars start at zero on purpose: the models are almost the same. XGBoost 2.901 vs straight line 3.005 mmHg. Source: results/metrics/model_comparison.csv.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model families converge; CCT importance near zero by permutation, ablation and linear fit; high-pressure eyes are the failure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Overall MAE is dominated by the 10-20 band. Breaking it out shows the failure at high pressure, which is clinically the important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Limits of agreement are about ±8 mmHg for both models. The rounding result comes from notebooks/icare_experiments.ipynb.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message: the algorithm is not the bottleneck, the inputs are. The next gains come from data, not from more tuning.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53312"/>
            <a:ext cx="731520" cy="3657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1481328" y="1353312"/>
            <a:ext cx="182880" cy="3657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4"/>
                </a:solidFill>
              </a:rPr>
              <a:t>AIML PROJECT  •  PREDICTING GAT IOP</a:t>
            </a:r>
            <a:endParaRPr lang="en-US" sz="8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AIML PROJECT  •  BEC309L</a:t>
            </a:r>
            <a:endParaRPr lang="en-US" sz="9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Predicting Goldmann Applanation IOP</a:t>
            </a:r>
            <a:endParaRPr lang="en-US" sz="2800" dirty="0"/>
          </a:p>
        </p:txBody>
      </p:sp>
      <p:sp>
        <p:nvSpPr>
          <p:cNvPr id="4" name="text-1"/>
          <p:cNvSpPr txBox="1"/>
          <p:nvPr/>
        </p:nvSpPr>
        <p:spPr>
          <a:xfrm>
            <a:off x="685800" y="16916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Machine learning estimation of GAT IOP from iCare rebound tonometry and central corneal thickness (CCT)</a:t>
            </a:r>
            <a:endParaRPr lang="en-US" sz="1600" dirty="0"/>
          </a:p>
        </p:txBody>
      </p:sp>
      <p:sp>
        <p:nvSpPr>
          <p:cNvPr id="5" name="text-2"/>
          <p:cNvSpPr txBox="1"/>
          <p:nvPr/>
        </p:nvSpPr>
        <p:spPr>
          <a:xfrm>
            <a:off x="685800" y="2743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6,639</a:t>
            </a:r>
            <a:endParaRPr lang="en-US" sz="3600" dirty="0"/>
          </a:p>
        </p:txBody>
      </p:sp>
      <p:sp>
        <p:nvSpPr>
          <p:cNvPr id="6" name="text-3"/>
          <p:cNvSpPr txBox="1"/>
          <p:nvPr/>
        </p:nvSpPr>
        <p:spPr>
          <a:xfrm>
            <a:off x="685800" y="3401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eyes after cleaning</a:t>
            </a:r>
            <a:endParaRPr lang="en-US" sz="1200" dirty="0"/>
          </a:p>
        </p:txBody>
      </p:sp>
      <p:sp>
        <p:nvSpPr>
          <p:cNvPr id="7" name="text-4"/>
          <p:cNvSpPr txBox="1"/>
          <p:nvPr/>
        </p:nvSpPr>
        <p:spPr>
          <a:xfrm>
            <a:off x="2743200" y="2743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</a:t>
            </a:r>
            <a:endParaRPr lang="en-US" sz="3600" dirty="0"/>
          </a:p>
        </p:txBody>
      </p:sp>
      <p:sp>
        <p:nvSpPr>
          <p:cNvPr id="8" name="text-5"/>
          <p:cNvSpPr txBox="1"/>
          <p:nvPr/>
        </p:nvSpPr>
        <p:spPr>
          <a:xfrm>
            <a:off x="2743200" y="3401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input features</a:t>
            </a:r>
            <a:endParaRPr lang="en-US" sz="1200" dirty="0"/>
          </a:p>
        </p:txBody>
      </p:sp>
      <p:sp>
        <p:nvSpPr>
          <p:cNvPr id="9" name="text-6"/>
          <p:cNvSpPr txBox="1"/>
          <p:nvPr/>
        </p:nvSpPr>
        <p:spPr>
          <a:xfrm>
            <a:off x="4800600" y="2743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</a:t>
            </a:r>
            <a:endParaRPr lang="en-US" sz="3600" dirty="0"/>
          </a:p>
        </p:txBody>
      </p:sp>
      <p:sp>
        <p:nvSpPr>
          <p:cNvPr id="10" name="text-7"/>
          <p:cNvSpPr txBox="1"/>
          <p:nvPr/>
        </p:nvSpPr>
        <p:spPr>
          <a:xfrm>
            <a:off x="4800600" y="3401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models compared</a:t>
            </a:r>
            <a:endParaRPr lang="en-US" sz="1200" dirty="0"/>
          </a:p>
        </p:txBody>
      </p:sp>
      <p:sp>
        <p:nvSpPr>
          <p:cNvPr id="11" name="card-8"/>
          <p:cNvSpPr/>
          <p:nvPr/>
        </p:nvSpPr>
        <p:spPr>
          <a:xfrm>
            <a:off x="7589520" y="1691640"/>
            <a:ext cx="3931920" cy="2011680"/>
          </a:xfrm>
          <a:prstGeom prst="roundRect">
            <a:avLst>
              <a:gd name="adj" fmla="val 6364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-9"/>
          <p:cNvSpPr txBox="1"/>
          <p:nvPr/>
        </p:nvSpPr>
        <p:spPr>
          <a:xfrm>
            <a:off x="7589520" y="2240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iCare + CCT  →  ML  →  GAT</a:t>
            </a:r>
            <a:endParaRPr lang="en-US" sz="2000" dirty="0"/>
          </a:p>
        </p:txBody>
      </p:sp>
      <p:sp>
        <p:nvSpPr>
          <p:cNvPr id="13" name="text-10"/>
          <p:cNvSpPr txBox="1"/>
          <p:nvPr/>
        </p:nvSpPr>
        <p:spPr>
          <a:xfrm>
            <a:off x="7589520" y="2880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REGRESSION  •  OUTPUT IN mmHg</a:t>
            </a:r>
            <a:endParaRPr lang="en-US" sz="1000" dirty="0"/>
          </a:p>
        </p:txBody>
      </p:sp>
      <p:sp>
        <p:nvSpPr>
          <p:cNvPr id="14" name="card-11"/>
          <p:cNvSpPr/>
          <p:nvPr/>
        </p:nvSpPr>
        <p:spPr>
          <a:xfrm>
            <a:off x="685800" y="4343400"/>
            <a:ext cx="10835640" cy="1554480"/>
          </a:xfrm>
          <a:prstGeom prst="roundRect">
            <a:avLst>
              <a:gd name="adj" fmla="val 823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-12"/>
          <p:cNvSpPr txBox="1"/>
          <p:nvPr/>
        </p:nvSpPr>
        <p:spPr>
          <a:xfrm>
            <a:off x="960120" y="4572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TEAM</a:t>
            </a:r>
            <a:endParaRPr lang="en-US" sz="900" dirty="0"/>
          </a:p>
        </p:txBody>
      </p:sp>
      <p:sp>
        <p:nvSpPr>
          <p:cNvPr id="16" name="text-13"/>
          <p:cNvSpPr txBox="1"/>
          <p:nvPr/>
        </p:nvSpPr>
        <p:spPr>
          <a:xfrm>
            <a:off x="960120" y="48463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Abhay Anand   •   Surya Vadhani   •   Saisrikant Hari (23BEC0446)</a:t>
            </a:r>
            <a:endParaRPr lang="en-US" sz="1500" dirty="0"/>
          </a:p>
        </p:txBody>
      </p:sp>
      <p:sp>
        <p:nvSpPr>
          <p:cNvPr id="17" name="text-14"/>
          <p:cNvSpPr txBox="1"/>
          <p:nvPr/>
        </p:nvSpPr>
        <p:spPr>
          <a:xfrm>
            <a:off x="960120" y="5257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B.Tech Electronics and Communication Engineering  •  Vellore Institute of Technology</a:t>
            </a:r>
            <a:endParaRPr lang="en-US" sz="1100" dirty="0"/>
          </a:p>
        </p:txBody>
      </p:sp>
      <p:sp>
        <p:nvSpPr>
          <p:cNvPr id="18" name="text-15"/>
          <p:cNvSpPr txBox="1"/>
          <p:nvPr/>
        </p:nvSpPr>
        <p:spPr>
          <a:xfrm>
            <a:off x="7863840" y="4572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FACULTY</a:t>
            </a:r>
            <a:endParaRPr lang="en-US" sz="900" dirty="0"/>
          </a:p>
        </p:txBody>
      </p:sp>
      <p:sp>
        <p:nvSpPr>
          <p:cNvPr id="19" name="text-16"/>
          <p:cNvSpPr txBox="1"/>
          <p:nvPr/>
        </p:nvSpPr>
        <p:spPr>
          <a:xfrm>
            <a:off x="7863840" y="4846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Dr. Suraj Prakash Sahoo</a:t>
            </a:r>
            <a:endParaRPr lang="en-US" sz="1500" dirty="0"/>
          </a:p>
        </p:txBody>
      </p:sp>
      <p:sp>
        <p:nvSpPr>
          <p:cNvPr id="20" name="text-17"/>
          <p:cNvSpPr txBox="1"/>
          <p:nvPr/>
        </p:nvSpPr>
        <p:spPr>
          <a:xfrm>
            <a:off x="7863840" y="5257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github.com/abhay04now/Icare-ML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CLINICAL MOTIVATION</a:t>
            </a:r>
            <a:endParaRPr lang="en-US" sz="9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4" name="card-18"/>
          <p:cNvSpPr/>
          <p:nvPr/>
        </p:nvSpPr>
        <p:spPr>
          <a:xfrm>
            <a:off x="685800" y="1691640"/>
            <a:ext cx="6949440" cy="4206240"/>
          </a:xfrm>
          <a:prstGeom prst="roundRect">
            <a:avLst>
              <a:gd name="adj" fmla="val 304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-19"/>
          <p:cNvSpPr txBox="1"/>
          <p:nvPr/>
        </p:nvSpPr>
        <p:spPr>
          <a:xfrm>
            <a:off x="1005840" y="210312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IOP is the main modifiable risk factor in glaucoma.</a:t>
            </a:r>
            <a:endParaRPr lang="en-US" sz="17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GAT is the clinical reference, but it needs a slit lamp, topical anaesthetic and a trained operator.</a:t>
            </a:r>
            <a:endParaRPr lang="en-US" sz="17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iCare is portable and needs no anaesthetic, but its readings differ systematically from GAT.</a:t>
            </a:r>
            <a:endParaRPr lang="en-US" sz="17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Central corneal thickness (CCT) is thought to explain part of that difference: thick corneas read high, thin corneas read low.</a:t>
            </a:r>
            <a:endParaRPr lang="en-US" sz="1700" dirty="0"/>
          </a:p>
        </p:txBody>
      </p:sp>
      <p:sp>
        <p:nvSpPr>
          <p:cNvPr id="6" name="card-20"/>
          <p:cNvSpPr/>
          <p:nvPr/>
        </p:nvSpPr>
        <p:spPr>
          <a:xfrm>
            <a:off x="8001000" y="1691640"/>
            <a:ext cx="3520440" cy="4206240"/>
          </a:xfrm>
          <a:prstGeom prst="roundRect">
            <a:avLst>
              <a:gd name="adj" fmla="val 6494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-21"/>
          <p:cNvSpPr txBox="1"/>
          <p:nvPr/>
        </p:nvSpPr>
        <p:spPr>
          <a:xfrm>
            <a:off x="8321040" y="2103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CORE QUESTION</a:t>
            </a:r>
            <a:endParaRPr lang="en-US" sz="900" dirty="0"/>
          </a:p>
        </p:txBody>
      </p:sp>
      <p:sp>
        <p:nvSpPr>
          <p:cNvPr id="8" name="text-22"/>
          <p:cNvSpPr txBox="1"/>
          <p:nvPr/>
        </p:nvSpPr>
        <p:spPr>
          <a:xfrm>
            <a:off x="8321040" y="265176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2"/>
                </a:solidFill>
              </a:rPr>
              <a:t>Can machine learning predict GAT IOP from an iCare reading and CCT?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FORMULATION</a:t>
            </a:r>
            <a:endParaRPr lang="en-US" sz="9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Proposed ML Solution</a:t>
            </a:r>
            <a:endParaRPr lang="en-US" sz="2800" dirty="0"/>
          </a:p>
        </p:txBody>
      </p:sp>
      <p:sp>
        <p:nvSpPr>
          <p:cNvPr id="4" name="card-23"/>
          <p:cNvSpPr/>
          <p:nvPr/>
        </p:nvSpPr>
        <p:spPr>
          <a:xfrm>
            <a:off x="685800" y="1920240"/>
            <a:ext cx="237744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-24"/>
          <p:cNvSpPr txBox="1"/>
          <p:nvPr/>
        </p:nvSpPr>
        <p:spPr>
          <a:xfrm>
            <a:off x="914400" y="19202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iCare IOP</a:t>
            </a:r>
            <a:endParaRPr lang="en-US" sz="1500" dirty="0"/>
          </a:p>
        </p:txBody>
      </p:sp>
      <p:sp>
        <p:nvSpPr>
          <p:cNvPr id="6" name="tag-25"/>
          <p:cNvSpPr/>
          <p:nvPr/>
        </p:nvSpPr>
        <p:spPr>
          <a:xfrm>
            <a:off x="2240280" y="2144268"/>
            <a:ext cx="640080" cy="237744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-26"/>
          <p:cNvSpPr txBox="1"/>
          <p:nvPr/>
        </p:nvSpPr>
        <p:spPr>
          <a:xfrm>
            <a:off x="2240280" y="21442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INPUT</a:t>
            </a:r>
            <a:endParaRPr lang="en-US" sz="800" dirty="0"/>
          </a:p>
        </p:txBody>
      </p:sp>
      <p:sp>
        <p:nvSpPr>
          <p:cNvPr id="8" name="card-27"/>
          <p:cNvSpPr/>
          <p:nvPr/>
        </p:nvSpPr>
        <p:spPr>
          <a:xfrm>
            <a:off x="685800" y="2834640"/>
            <a:ext cx="237744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-28"/>
          <p:cNvSpPr txBox="1"/>
          <p:nvPr/>
        </p:nvSpPr>
        <p:spPr>
          <a:xfrm>
            <a:off x="914400" y="28346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CCT</a:t>
            </a:r>
            <a:endParaRPr lang="en-US" sz="1500" dirty="0"/>
          </a:p>
        </p:txBody>
      </p:sp>
      <p:sp>
        <p:nvSpPr>
          <p:cNvPr id="10" name="tag-29"/>
          <p:cNvSpPr/>
          <p:nvPr/>
        </p:nvSpPr>
        <p:spPr>
          <a:xfrm>
            <a:off x="2240280" y="3058668"/>
            <a:ext cx="640080" cy="237744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-30"/>
          <p:cNvSpPr txBox="1"/>
          <p:nvPr/>
        </p:nvSpPr>
        <p:spPr>
          <a:xfrm>
            <a:off x="2240280" y="30586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INPUT</a:t>
            </a:r>
            <a:endParaRPr lang="en-US" sz="800" dirty="0"/>
          </a:p>
        </p:txBody>
      </p:sp>
      <p:sp>
        <p:nvSpPr>
          <p:cNvPr id="12" name="text-31"/>
          <p:cNvSpPr txBox="1"/>
          <p:nvPr/>
        </p:nvSpPr>
        <p:spPr>
          <a:xfrm>
            <a:off x="3246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card-32"/>
          <p:cNvSpPr/>
          <p:nvPr/>
        </p:nvSpPr>
        <p:spPr>
          <a:xfrm>
            <a:off x="3977640" y="1783080"/>
            <a:ext cx="3291840" cy="1783080"/>
          </a:xfrm>
          <a:prstGeom prst="roundRect">
            <a:avLst>
              <a:gd name="adj" fmla="val 7179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text-33"/>
          <p:cNvSpPr txBox="1"/>
          <p:nvPr/>
        </p:nvSpPr>
        <p:spPr>
          <a:xfrm>
            <a:off x="397764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ML REGRESSOR</a:t>
            </a:r>
            <a:endParaRPr lang="en-US" sz="900" dirty="0"/>
          </a:p>
        </p:txBody>
      </p:sp>
      <p:sp>
        <p:nvSpPr>
          <p:cNvPr id="15" name="text-34"/>
          <p:cNvSpPr txBox="1"/>
          <p:nvPr/>
        </p:nvSpPr>
        <p:spPr>
          <a:xfrm>
            <a:off x="4251960" y="2377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Learns the mapping from the two inputs to measured GAT IOP</a:t>
            </a:r>
            <a:endParaRPr lang="en-US" sz="1400" dirty="0"/>
          </a:p>
        </p:txBody>
      </p:sp>
      <p:sp>
        <p:nvSpPr>
          <p:cNvPr id="16" name="text-35"/>
          <p:cNvSpPr txBox="1"/>
          <p:nvPr/>
        </p:nvSpPr>
        <p:spPr>
          <a:xfrm>
            <a:off x="74523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→</a:t>
            </a:r>
            <a:endParaRPr lang="en-US" sz="2800" dirty="0"/>
          </a:p>
        </p:txBody>
      </p:sp>
      <p:sp>
        <p:nvSpPr>
          <p:cNvPr id="17" name="card-36"/>
          <p:cNvSpPr/>
          <p:nvPr/>
        </p:nvSpPr>
        <p:spPr>
          <a:xfrm>
            <a:off x="8183880" y="1783080"/>
            <a:ext cx="3337560" cy="1783080"/>
          </a:xfrm>
          <a:prstGeom prst="roundRect">
            <a:avLst>
              <a:gd name="adj" fmla="val 717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-37"/>
          <p:cNvSpPr txBox="1"/>
          <p:nvPr/>
        </p:nvSpPr>
        <p:spPr>
          <a:xfrm>
            <a:off x="8183880" y="20116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PREDICTED GAT IOP</a:t>
            </a:r>
            <a:endParaRPr lang="en-US" sz="900" dirty="0"/>
          </a:p>
        </p:txBody>
      </p:sp>
      <p:sp>
        <p:nvSpPr>
          <p:cNvPr id="19" name="text-38"/>
          <p:cNvSpPr txBox="1"/>
          <p:nvPr/>
        </p:nvSpPr>
        <p:spPr>
          <a:xfrm>
            <a:off x="8458200" y="242316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Continuous output in mmHg</a:t>
            </a:r>
            <a:endParaRPr lang="en-US" sz="1700" dirty="0"/>
          </a:p>
        </p:txBody>
      </p:sp>
      <p:sp>
        <p:nvSpPr>
          <p:cNvPr id="20" name="card-39"/>
          <p:cNvSpPr/>
          <p:nvPr/>
        </p:nvSpPr>
        <p:spPr>
          <a:xfrm>
            <a:off x="685800" y="4114800"/>
            <a:ext cx="5257800" cy="1691640"/>
          </a:xfrm>
          <a:prstGeom prst="roundRect">
            <a:avLst>
              <a:gd name="adj" fmla="val 756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-40"/>
          <p:cNvSpPr txBox="1"/>
          <p:nvPr/>
        </p:nvSpPr>
        <p:spPr>
          <a:xfrm>
            <a:off x="960120" y="4343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SCOPE</a:t>
            </a:r>
            <a:endParaRPr lang="en-US" sz="900" dirty="0"/>
          </a:p>
        </p:txBody>
      </p:sp>
      <p:sp>
        <p:nvSpPr>
          <p:cNvPr id="22" name="text-41"/>
          <p:cNvSpPr txBox="1"/>
          <p:nvPr/>
        </p:nvSpPr>
        <p:spPr>
          <a:xfrm>
            <a:off x="960120" y="46634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Age and gender are not in the dataset, so the model uses only iCare IOP and CCT.</a:t>
            </a:r>
            <a:endParaRPr lang="en-US" sz="1400" dirty="0"/>
          </a:p>
        </p:txBody>
      </p:sp>
      <p:sp>
        <p:nvSpPr>
          <p:cNvPr id="23" name="card-42"/>
          <p:cNvSpPr/>
          <p:nvPr/>
        </p:nvSpPr>
        <p:spPr>
          <a:xfrm>
            <a:off x="6263640" y="4114800"/>
            <a:ext cx="5257800" cy="1691640"/>
          </a:xfrm>
          <a:prstGeom prst="roundRect">
            <a:avLst>
              <a:gd name="adj" fmla="val 756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-43"/>
          <p:cNvSpPr txBox="1"/>
          <p:nvPr/>
        </p:nvSpPr>
        <p:spPr>
          <a:xfrm>
            <a:off x="6537960" y="4343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REFERENCE POINTS</a:t>
            </a:r>
            <a:endParaRPr lang="en-US" sz="900" dirty="0"/>
          </a:p>
        </p:txBody>
      </p:sp>
      <p:sp>
        <p:nvSpPr>
          <p:cNvPr id="25" name="text-44"/>
          <p:cNvSpPr txBox="1"/>
          <p:nvPr/>
        </p:nvSpPr>
        <p:spPr>
          <a:xfrm>
            <a:off x="6537960" y="46634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Every model must beat two non-ML baselines: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GAT = iCare,  and  GAT = 3.39 + 0.85 × iCare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DATA</a:t>
            </a:r>
            <a:endParaRPr lang="en-US" sz="9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Dataset &amp; Cleaning Pipeline</a:t>
            </a:r>
            <a:endParaRPr lang="en-US" sz="2800" dirty="0"/>
          </a:p>
        </p:txBody>
      </p:sp>
      <p:sp>
        <p:nvSpPr>
          <p:cNvPr id="4" name="card-45"/>
          <p:cNvSpPr/>
          <p:nvPr/>
        </p:nvSpPr>
        <p:spPr>
          <a:xfrm>
            <a:off x="685800" y="1691640"/>
            <a:ext cx="2020824" cy="1691640"/>
          </a:xfrm>
          <a:prstGeom prst="roundRect">
            <a:avLst>
              <a:gd name="adj" fmla="val 756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-46"/>
          <p:cNvSpPr txBox="1"/>
          <p:nvPr/>
        </p:nvSpPr>
        <p:spPr>
          <a:xfrm>
            <a:off x="868680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-47"/>
          <p:cNvSpPr txBox="1"/>
          <p:nvPr/>
        </p:nvSpPr>
        <p:spPr>
          <a:xfrm>
            <a:off x="868680" y="214884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Pair</a:t>
            </a:r>
            <a:endParaRPr lang="en-US" sz="1500" dirty="0"/>
          </a:p>
        </p:txBody>
      </p:sp>
      <p:sp>
        <p:nvSpPr>
          <p:cNvPr id="7" name="text-48"/>
          <p:cNvSpPr txBox="1"/>
          <p:nvPr/>
        </p:nvSpPr>
        <p:spPr>
          <a:xfrm>
            <a:off x="868680" y="2542032"/>
            <a:ext cx="1655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iCare before GAT, same day, within 3 hours</a:t>
            </a:r>
            <a:endParaRPr lang="en-US" sz="1100" dirty="0"/>
          </a:p>
        </p:txBody>
      </p:sp>
      <p:sp>
        <p:nvSpPr>
          <p:cNvPr id="8" name="card-49"/>
          <p:cNvSpPr/>
          <p:nvPr/>
        </p:nvSpPr>
        <p:spPr>
          <a:xfrm>
            <a:off x="2889504" y="1691640"/>
            <a:ext cx="2020824" cy="1691640"/>
          </a:xfrm>
          <a:prstGeom prst="roundRect">
            <a:avLst>
              <a:gd name="adj" fmla="val 756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-50"/>
          <p:cNvSpPr txBox="1"/>
          <p:nvPr/>
        </p:nvSpPr>
        <p:spPr>
          <a:xfrm>
            <a:off x="3072384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02</a:t>
            </a:r>
            <a:endParaRPr lang="en-US" sz="1000" dirty="0"/>
          </a:p>
        </p:txBody>
      </p:sp>
      <p:sp>
        <p:nvSpPr>
          <p:cNvPr id="10" name="text-51"/>
          <p:cNvSpPr txBox="1"/>
          <p:nvPr/>
        </p:nvSpPr>
        <p:spPr>
          <a:xfrm>
            <a:off x="3072384" y="214884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De-duplicate</a:t>
            </a:r>
            <a:endParaRPr lang="en-US" sz="1500" dirty="0"/>
          </a:p>
        </p:txBody>
      </p:sp>
      <p:sp>
        <p:nvSpPr>
          <p:cNvPr id="11" name="text-52"/>
          <p:cNvSpPr txBox="1"/>
          <p:nvPr/>
        </p:nvSpPr>
        <p:spPr>
          <a:xfrm>
            <a:off x="3072384" y="2542032"/>
            <a:ext cx="1655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Exact copies of a measurement removed</a:t>
            </a:r>
            <a:endParaRPr lang="en-US" sz="1100" dirty="0"/>
          </a:p>
        </p:txBody>
      </p:sp>
      <p:sp>
        <p:nvSpPr>
          <p:cNvPr id="12" name="card-53"/>
          <p:cNvSpPr/>
          <p:nvPr/>
        </p:nvSpPr>
        <p:spPr>
          <a:xfrm>
            <a:off x="5093208" y="1691640"/>
            <a:ext cx="2020824" cy="1691640"/>
          </a:xfrm>
          <a:prstGeom prst="roundRect">
            <a:avLst>
              <a:gd name="adj" fmla="val 756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-54"/>
          <p:cNvSpPr txBox="1"/>
          <p:nvPr/>
        </p:nvSpPr>
        <p:spPr>
          <a:xfrm>
            <a:off x="5276088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03</a:t>
            </a:r>
            <a:endParaRPr lang="en-US" sz="1000" dirty="0"/>
          </a:p>
        </p:txBody>
      </p:sp>
      <p:sp>
        <p:nvSpPr>
          <p:cNvPr id="14" name="text-55"/>
          <p:cNvSpPr txBox="1"/>
          <p:nvPr/>
        </p:nvSpPr>
        <p:spPr>
          <a:xfrm>
            <a:off x="5276088" y="214884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Range filter</a:t>
            </a:r>
            <a:endParaRPr lang="en-US" sz="1500" dirty="0"/>
          </a:p>
        </p:txBody>
      </p:sp>
      <p:sp>
        <p:nvSpPr>
          <p:cNvPr id="15" name="text-56"/>
          <p:cNvSpPr txBox="1"/>
          <p:nvPr/>
        </p:nvSpPr>
        <p:spPr>
          <a:xfrm>
            <a:off x="5276088" y="2542032"/>
            <a:ext cx="1655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CCT 480–580 µm; IOP 0–80 mmHg</a:t>
            </a:r>
            <a:endParaRPr lang="en-US" sz="1100" dirty="0"/>
          </a:p>
        </p:txBody>
      </p:sp>
      <p:sp>
        <p:nvSpPr>
          <p:cNvPr id="16" name="card-57"/>
          <p:cNvSpPr/>
          <p:nvPr/>
        </p:nvSpPr>
        <p:spPr>
          <a:xfrm>
            <a:off x="7296912" y="1691640"/>
            <a:ext cx="2020824" cy="1691640"/>
          </a:xfrm>
          <a:prstGeom prst="roundRect">
            <a:avLst>
              <a:gd name="adj" fmla="val 756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-58"/>
          <p:cNvSpPr txBox="1"/>
          <p:nvPr/>
        </p:nvSpPr>
        <p:spPr>
          <a:xfrm>
            <a:off x="7479792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04</a:t>
            </a:r>
            <a:endParaRPr lang="en-US" sz="1000" dirty="0"/>
          </a:p>
        </p:txBody>
      </p:sp>
      <p:sp>
        <p:nvSpPr>
          <p:cNvPr id="18" name="text-59"/>
          <p:cNvSpPr txBox="1"/>
          <p:nvPr/>
        </p:nvSpPr>
        <p:spPr>
          <a:xfrm>
            <a:off x="7479792" y="214884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One per eye</a:t>
            </a:r>
            <a:endParaRPr lang="en-US" sz="1500" dirty="0"/>
          </a:p>
        </p:txBody>
      </p:sp>
      <p:sp>
        <p:nvSpPr>
          <p:cNvPr id="19" name="text-60"/>
          <p:cNvSpPr txBox="1"/>
          <p:nvPr/>
        </p:nvSpPr>
        <p:spPr>
          <a:xfrm>
            <a:off x="7479792" y="2542032"/>
            <a:ext cx="1655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Earliest valid observation kept</a:t>
            </a:r>
            <a:endParaRPr lang="en-US" sz="1100" dirty="0"/>
          </a:p>
        </p:txBody>
      </p:sp>
      <p:sp>
        <p:nvSpPr>
          <p:cNvPr id="20" name="card-61"/>
          <p:cNvSpPr/>
          <p:nvPr/>
        </p:nvSpPr>
        <p:spPr>
          <a:xfrm>
            <a:off x="9500616" y="1691640"/>
            <a:ext cx="2020824" cy="1691640"/>
          </a:xfrm>
          <a:prstGeom prst="roundRect">
            <a:avLst>
              <a:gd name="adj" fmla="val 756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-62"/>
          <p:cNvSpPr txBox="1"/>
          <p:nvPr/>
        </p:nvSpPr>
        <p:spPr>
          <a:xfrm>
            <a:off x="9683496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05</a:t>
            </a:r>
            <a:endParaRPr lang="en-US" sz="1000" dirty="0"/>
          </a:p>
        </p:txBody>
      </p:sp>
      <p:sp>
        <p:nvSpPr>
          <p:cNvPr id="22" name="text-63"/>
          <p:cNvSpPr txBox="1"/>
          <p:nvPr/>
        </p:nvSpPr>
        <p:spPr>
          <a:xfrm>
            <a:off x="9683496" y="214884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Patient split</a:t>
            </a:r>
            <a:endParaRPr lang="en-US" sz="1500" dirty="0"/>
          </a:p>
        </p:txBody>
      </p:sp>
      <p:sp>
        <p:nvSpPr>
          <p:cNvPr id="23" name="text-64"/>
          <p:cNvSpPr txBox="1"/>
          <p:nvPr/>
        </p:nvSpPr>
        <p:spPr>
          <a:xfrm>
            <a:off x="9683496" y="2542032"/>
            <a:ext cx="1655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Both eyes of a patient in the same split</a:t>
            </a:r>
            <a:endParaRPr lang="en-US" sz="1100" dirty="0"/>
          </a:p>
        </p:txBody>
      </p:sp>
      <p:sp>
        <p:nvSpPr>
          <p:cNvPr id="24" name="card-65"/>
          <p:cNvSpPr/>
          <p:nvPr/>
        </p:nvSpPr>
        <p:spPr>
          <a:xfrm>
            <a:off x="685800" y="3703320"/>
            <a:ext cx="2569464" cy="1188720"/>
          </a:xfrm>
          <a:prstGeom prst="roundRect">
            <a:avLst>
              <a:gd name="adj" fmla="val 1076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-66"/>
          <p:cNvSpPr txBox="1"/>
          <p:nvPr/>
        </p:nvSpPr>
        <p:spPr>
          <a:xfrm>
            <a:off x="914400" y="38404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6,639</a:t>
            </a:r>
            <a:endParaRPr lang="en-US" sz="2800" dirty="0"/>
          </a:p>
        </p:txBody>
      </p:sp>
      <p:sp>
        <p:nvSpPr>
          <p:cNvPr id="26" name="text-67"/>
          <p:cNvSpPr txBox="1"/>
          <p:nvPr/>
        </p:nvSpPr>
        <p:spPr>
          <a:xfrm>
            <a:off x="914400" y="443484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eyes in total</a:t>
            </a:r>
            <a:endParaRPr lang="en-US" sz="1100" dirty="0"/>
          </a:p>
        </p:txBody>
      </p:sp>
      <p:sp>
        <p:nvSpPr>
          <p:cNvPr id="27" name="card-68"/>
          <p:cNvSpPr/>
          <p:nvPr/>
        </p:nvSpPr>
        <p:spPr>
          <a:xfrm>
            <a:off x="3438144" y="3703320"/>
            <a:ext cx="2569464" cy="1188720"/>
          </a:xfrm>
          <a:prstGeom prst="roundRect">
            <a:avLst>
              <a:gd name="adj" fmla="val 1076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text-69"/>
          <p:cNvSpPr txBox="1"/>
          <p:nvPr/>
        </p:nvSpPr>
        <p:spPr>
          <a:xfrm>
            <a:off x="3666744" y="38404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4,648</a:t>
            </a:r>
            <a:endParaRPr lang="en-US" sz="2800" dirty="0"/>
          </a:p>
        </p:txBody>
      </p:sp>
      <p:sp>
        <p:nvSpPr>
          <p:cNvPr id="29" name="text-70"/>
          <p:cNvSpPr txBox="1"/>
          <p:nvPr/>
        </p:nvSpPr>
        <p:spPr>
          <a:xfrm>
            <a:off x="3666744" y="443484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train  •  2,536 patients</a:t>
            </a:r>
            <a:endParaRPr lang="en-US" sz="1100" dirty="0"/>
          </a:p>
        </p:txBody>
      </p:sp>
      <p:sp>
        <p:nvSpPr>
          <p:cNvPr id="30" name="card-71"/>
          <p:cNvSpPr/>
          <p:nvPr/>
        </p:nvSpPr>
        <p:spPr>
          <a:xfrm>
            <a:off x="6190488" y="3703320"/>
            <a:ext cx="2569464" cy="1188720"/>
          </a:xfrm>
          <a:prstGeom prst="roundRect">
            <a:avLst>
              <a:gd name="adj" fmla="val 1076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text-72"/>
          <p:cNvSpPr txBox="1"/>
          <p:nvPr/>
        </p:nvSpPr>
        <p:spPr>
          <a:xfrm>
            <a:off x="6419088" y="38404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1,001</a:t>
            </a:r>
            <a:endParaRPr lang="en-US" sz="2800" dirty="0"/>
          </a:p>
        </p:txBody>
      </p:sp>
      <p:sp>
        <p:nvSpPr>
          <p:cNvPr id="32" name="text-73"/>
          <p:cNvSpPr txBox="1"/>
          <p:nvPr/>
        </p:nvSpPr>
        <p:spPr>
          <a:xfrm>
            <a:off x="6419088" y="443484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33" name="card-74"/>
          <p:cNvSpPr/>
          <p:nvPr/>
        </p:nvSpPr>
        <p:spPr>
          <a:xfrm>
            <a:off x="8942832" y="3703320"/>
            <a:ext cx="2569464" cy="1188720"/>
          </a:xfrm>
          <a:prstGeom prst="roundRect">
            <a:avLst>
              <a:gd name="adj" fmla="val 1076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4" name="text-75"/>
          <p:cNvSpPr txBox="1"/>
          <p:nvPr/>
        </p:nvSpPr>
        <p:spPr>
          <a:xfrm>
            <a:off x="9171432" y="38404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990</a:t>
            </a:r>
            <a:endParaRPr lang="en-US" sz="2800" dirty="0"/>
          </a:p>
        </p:txBody>
      </p:sp>
      <p:sp>
        <p:nvSpPr>
          <p:cNvPr id="35" name="text-76"/>
          <p:cNvSpPr txBox="1"/>
          <p:nvPr/>
        </p:nvSpPr>
        <p:spPr>
          <a:xfrm>
            <a:off x="9171432" y="443484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test</a:t>
            </a:r>
            <a:endParaRPr lang="en-US" sz="1100" dirty="0"/>
          </a:p>
        </p:txBody>
      </p:sp>
      <p:sp>
        <p:nvSpPr>
          <p:cNvPr id="36" name="card-77"/>
          <p:cNvSpPr/>
          <p:nvPr/>
        </p:nvSpPr>
        <p:spPr>
          <a:xfrm>
            <a:off x="685800" y="5166360"/>
            <a:ext cx="10835640" cy="868680"/>
          </a:xfrm>
          <a:prstGeom prst="roundRect">
            <a:avLst>
              <a:gd name="adj" fmla="val 1473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text-78"/>
          <p:cNvSpPr txBox="1"/>
          <p:nvPr/>
        </p:nvSpPr>
        <p:spPr>
          <a:xfrm>
            <a:off x="960120" y="51663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Row:  </a:t>
            </a:r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| euid |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icare_iop | cct</a:t>
            </a:r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| </a:t>
            </a:r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applanation_iop</a:t>
            </a:r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Inputs in blue, target in green. Split ~70 / 15 / 15 by patient, random_state = 42.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AIML FORMULATION</a:t>
            </a:r>
            <a:endParaRPr lang="en-US" sz="9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Why Regression?</a:t>
            </a:r>
            <a:endParaRPr lang="en-US" sz="2800" dirty="0"/>
          </a:p>
        </p:txBody>
      </p:sp>
      <p:sp>
        <p:nvSpPr>
          <p:cNvPr id="4" name="card-79"/>
          <p:cNvSpPr/>
          <p:nvPr/>
        </p:nvSpPr>
        <p:spPr>
          <a:xfrm>
            <a:off x="685800" y="1783080"/>
            <a:ext cx="5303520" cy="3474720"/>
          </a:xfrm>
          <a:prstGeom prst="roundRect">
            <a:avLst>
              <a:gd name="adj" fmla="val 657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-80"/>
          <p:cNvSpPr txBox="1"/>
          <p:nvPr/>
        </p:nvSpPr>
        <p:spPr>
          <a:xfrm>
            <a:off x="685800" y="2148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REGRESSION</a:t>
            </a:r>
            <a:endParaRPr lang="en-US" sz="1100" dirty="0"/>
          </a:p>
        </p:txBody>
      </p:sp>
      <p:sp>
        <p:nvSpPr>
          <p:cNvPr id="6" name="text-81"/>
          <p:cNvSpPr txBox="1"/>
          <p:nvPr/>
        </p:nvSpPr>
        <p:spPr>
          <a:xfrm>
            <a:off x="1143000" y="269748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2"/>
                </a:solidFill>
              </a:rPr>
              <a:t>“What is the predicted GAT IOP value?”</a:t>
            </a:r>
            <a:endParaRPr lang="en-US" sz="2200" dirty="0"/>
          </a:p>
        </p:txBody>
      </p:sp>
      <p:sp>
        <p:nvSpPr>
          <p:cNvPr id="7" name="text-82"/>
          <p:cNvSpPr txBox="1"/>
          <p:nvPr/>
        </p:nvSpPr>
        <p:spPr>
          <a:xfrm>
            <a:off x="685800" y="4434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Continuous value  •  mmHg</a:t>
            </a:r>
            <a:endParaRPr lang="en-US" sz="1300" dirty="0"/>
          </a:p>
        </p:txBody>
      </p:sp>
      <p:sp>
        <p:nvSpPr>
          <p:cNvPr id="8" name="card-83"/>
          <p:cNvSpPr/>
          <p:nvPr/>
        </p:nvSpPr>
        <p:spPr>
          <a:xfrm>
            <a:off x="6217920" y="1783080"/>
            <a:ext cx="5303520" cy="3474720"/>
          </a:xfrm>
          <a:prstGeom prst="roundRect">
            <a:avLst>
              <a:gd name="adj" fmla="val 657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-84"/>
          <p:cNvSpPr txBox="1"/>
          <p:nvPr/>
        </p:nvSpPr>
        <p:spPr>
          <a:xfrm>
            <a:off x="6217920" y="2148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CLASSIFICATION</a:t>
            </a:r>
            <a:endParaRPr lang="en-US" sz="1100" dirty="0"/>
          </a:p>
        </p:txBody>
      </p:sp>
      <p:sp>
        <p:nvSpPr>
          <p:cNvPr id="10" name="text-85"/>
          <p:cNvSpPr txBox="1"/>
          <p:nvPr/>
        </p:nvSpPr>
        <p:spPr>
          <a:xfrm>
            <a:off x="6675120" y="269748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2"/>
                </a:solidFill>
              </a:rPr>
              <a:t>“Which class does this patient belong to?”</a:t>
            </a:r>
            <a:endParaRPr lang="en-US" sz="2200" dirty="0"/>
          </a:p>
        </p:txBody>
      </p:sp>
      <p:sp>
        <p:nvSpPr>
          <p:cNvPr id="11" name="text-86"/>
          <p:cNvSpPr txBox="1"/>
          <p:nvPr/>
        </p:nvSpPr>
        <p:spPr>
          <a:xfrm>
            <a:off x="6217920" y="4434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Discrete class label</a:t>
            </a:r>
            <a:endParaRPr lang="en-US" sz="1300" dirty="0"/>
          </a:p>
        </p:txBody>
      </p:sp>
      <p:sp>
        <p:nvSpPr>
          <p:cNvPr id="12" name="text-87"/>
          <p:cNvSpPr txBox="1"/>
          <p:nvPr/>
        </p:nvSpPr>
        <p:spPr>
          <a:xfrm>
            <a:off x="685800" y="553212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GAT IOP is a number in mmHg, so the task is regression and the error is reported in mmHg.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MODEL FAMILIES</a:t>
            </a:r>
            <a:endParaRPr lang="en-US" sz="9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Models Evaluated</a:t>
            </a:r>
            <a:endParaRPr lang="en-US" sz="2800" dirty="0"/>
          </a:p>
        </p:txBody>
      </p:sp>
      <p:sp>
        <p:nvSpPr>
          <p:cNvPr id="4" name="card-88"/>
          <p:cNvSpPr/>
          <p:nvPr/>
        </p:nvSpPr>
        <p:spPr>
          <a:xfrm>
            <a:off x="685800" y="1691640"/>
            <a:ext cx="2020824" cy="2148840"/>
          </a:xfrm>
          <a:prstGeom prst="roundRect">
            <a:avLst>
              <a:gd name="adj" fmla="val 633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-89"/>
          <p:cNvSpPr txBox="1"/>
          <p:nvPr/>
        </p:nvSpPr>
        <p:spPr>
          <a:xfrm>
            <a:off x="868680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-90"/>
          <p:cNvSpPr txBox="1"/>
          <p:nvPr/>
        </p:nvSpPr>
        <p:spPr>
          <a:xfrm>
            <a:off x="868680" y="2176272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Linear Regression</a:t>
            </a:r>
            <a:endParaRPr lang="en-US" sz="1500" dirty="0"/>
          </a:p>
        </p:txBody>
      </p:sp>
      <p:sp>
        <p:nvSpPr>
          <p:cNvPr id="7" name="text-91"/>
          <p:cNvSpPr txBox="1"/>
          <p:nvPr/>
        </p:nvSpPr>
        <p:spPr>
          <a:xfrm>
            <a:off x="868680" y="283464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iCare + CCT, least squares</a:t>
            </a:r>
            <a:endParaRPr lang="en-US" sz="1100" dirty="0"/>
          </a:p>
        </p:txBody>
      </p:sp>
      <p:sp>
        <p:nvSpPr>
          <p:cNvPr id="8" name="card-92"/>
          <p:cNvSpPr/>
          <p:nvPr/>
        </p:nvSpPr>
        <p:spPr>
          <a:xfrm>
            <a:off x="2889504" y="1691640"/>
            <a:ext cx="2020824" cy="2148840"/>
          </a:xfrm>
          <a:prstGeom prst="roundRect">
            <a:avLst>
              <a:gd name="adj" fmla="val 633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-93"/>
          <p:cNvSpPr txBox="1"/>
          <p:nvPr/>
        </p:nvSpPr>
        <p:spPr>
          <a:xfrm>
            <a:off x="3072384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02</a:t>
            </a:r>
            <a:endParaRPr lang="en-US" sz="1000" dirty="0"/>
          </a:p>
        </p:txBody>
      </p:sp>
      <p:sp>
        <p:nvSpPr>
          <p:cNvPr id="10" name="text-94"/>
          <p:cNvSpPr txBox="1"/>
          <p:nvPr/>
        </p:nvSpPr>
        <p:spPr>
          <a:xfrm>
            <a:off x="3072384" y="2176272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Random Forest</a:t>
            </a:r>
            <a:endParaRPr lang="en-US" sz="1500" dirty="0"/>
          </a:p>
        </p:txBody>
      </p:sp>
      <p:sp>
        <p:nvSpPr>
          <p:cNvPr id="11" name="text-95"/>
          <p:cNvSpPr txBox="1"/>
          <p:nvPr/>
        </p:nvSpPr>
        <p:spPr>
          <a:xfrm>
            <a:off x="3072384" y="283464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100 trees, max depth 4</a:t>
            </a:r>
            <a:endParaRPr lang="en-US" sz="1100" dirty="0"/>
          </a:p>
        </p:txBody>
      </p:sp>
      <p:sp>
        <p:nvSpPr>
          <p:cNvPr id="12" name="card-96"/>
          <p:cNvSpPr/>
          <p:nvPr/>
        </p:nvSpPr>
        <p:spPr>
          <a:xfrm>
            <a:off x="5093208" y="1691640"/>
            <a:ext cx="2020824" cy="2148840"/>
          </a:xfrm>
          <a:prstGeom prst="roundRect">
            <a:avLst>
              <a:gd name="adj" fmla="val 633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-97"/>
          <p:cNvSpPr txBox="1"/>
          <p:nvPr/>
        </p:nvSpPr>
        <p:spPr>
          <a:xfrm>
            <a:off x="5276088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03</a:t>
            </a:r>
            <a:endParaRPr lang="en-US" sz="1000" dirty="0"/>
          </a:p>
        </p:txBody>
      </p:sp>
      <p:sp>
        <p:nvSpPr>
          <p:cNvPr id="14" name="text-98"/>
          <p:cNvSpPr txBox="1"/>
          <p:nvPr/>
        </p:nvSpPr>
        <p:spPr>
          <a:xfrm>
            <a:off x="5276088" y="2176272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ANN / MLP</a:t>
            </a:r>
            <a:endParaRPr lang="en-US" sz="1500" dirty="0"/>
          </a:p>
        </p:txBody>
      </p:sp>
      <p:sp>
        <p:nvSpPr>
          <p:cNvPr id="15" name="text-99"/>
          <p:cNvSpPr txBox="1"/>
          <p:nvPr/>
        </p:nvSpPr>
        <p:spPr>
          <a:xfrm>
            <a:off x="5276088" y="283464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PyTorch 2-32-16-1, Adam</a:t>
            </a:r>
            <a:endParaRPr lang="en-US" sz="1100" dirty="0"/>
          </a:p>
        </p:txBody>
      </p:sp>
      <p:sp>
        <p:nvSpPr>
          <p:cNvPr id="16" name="card-100"/>
          <p:cNvSpPr/>
          <p:nvPr/>
        </p:nvSpPr>
        <p:spPr>
          <a:xfrm>
            <a:off x="7296912" y="1691640"/>
            <a:ext cx="2020824" cy="2148840"/>
          </a:xfrm>
          <a:prstGeom prst="roundRect">
            <a:avLst>
              <a:gd name="adj" fmla="val 633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-101"/>
          <p:cNvSpPr txBox="1"/>
          <p:nvPr/>
        </p:nvSpPr>
        <p:spPr>
          <a:xfrm>
            <a:off x="7479792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04</a:t>
            </a:r>
            <a:endParaRPr lang="en-US" sz="1000" dirty="0"/>
          </a:p>
        </p:txBody>
      </p:sp>
      <p:sp>
        <p:nvSpPr>
          <p:cNvPr id="18" name="text-102"/>
          <p:cNvSpPr txBox="1"/>
          <p:nvPr/>
        </p:nvSpPr>
        <p:spPr>
          <a:xfrm>
            <a:off x="7479792" y="2176272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XGBoost</a:t>
            </a:r>
            <a:endParaRPr lang="en-US" sz="1500" dirty="0"/>
          </a:p>
        </p:txBody>
      </p:sp>
      <p:sp>
        <p:nvSpPr>
          <p:cNvPr id="19" name="text-103"/>
          <p:cNvSpPr txBox="1"/>
          <p:nvPr/>
        </p:nvSpPr>
        <p:spPr>
          <a:xfrm>
            <a:off x="7479792" y="283464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Depth 3, 500 trees, learning rate 0.01, λ = 10</a:t>
            </a:r>
            <a:endParaRPr lang="en-US" sz="1100" dirty="0"/>
          </a:p>
        </p:txBody>
      </p:sp>
      <p:sp>
        <p:nvSpPr>
          <p:cNvPr id="20" name="card-104"/>
          <p:cNvSpPr/>
          <p:nvPr/>
        </p:nvSpPr>
        <p:spPr>
          <a:xfrm>
            <a:off x="9500616" y="1691640"/>
            <a:ext cx="2020824" cy="2148840"/>
          </a:xfrm>
          <a:prstGeom prst="roundRect">
            <a:avLst>
              <a:gd name="adj" fmla="val 633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-105"/>
          <p:cNvSpPr txBox="1"/>
          <p:nvPr/>
        </p:nvSpPr>
        <p:spPr>
          <a:xfrm>
            <a:off x="9683496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05</a:t>
            </a:r>
            <a:endParaRPr lang="en-US" sz="1000" dirty="0"/>
          </a:p>
        </p:txBody>
      </p:sp>
      <p:sp>
        <p:nvSpPr>
          <p:cNvPr id="22" name="text-106"/>
          <p:cNvSpPr txBox="1"/>
          <p:nvPr/>
        </p:nvSpPr>
        <p:spPr>
          <a:xfrm>
            <a:off x="9683496" y="2176272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SVR</a:t>
            </a:r>
            <a:endParaRPr lang="en-US" sz="1500" dirty="0"/>
          </a:p>
        </p:txBody>
      </p:sp>
      <p:sp>
        <p:nvSpPr>
          <p:cNvPr id="23" name="text-107"/>
          <p:cNvSpPr txBox="1"/>
          <p:nvPr/>
        </p:nvSpPr>
        <p:spPr>
          <a:xfrm>
            <a:off x="9683496" y="283464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RBF kernel, C = 15.4, γ = 0.18, ε = 0.25</a:t>
            </a:r>
            <a:endParaRPr lang="en-US" sz="1100" dirty="0"/>
          </a:p>
        </p:txBody>
      </p:sp>
      <p:sp>
        <p:nvSpPr>
          <p:cNvPr id="24" name="text-108"/>
          <p:cNvSpPr txBox="1"/>
          <p:nvPr/>
        </p:nvSpPr>
        <p:spPr>
          <a:xfrm>
            <a:off x="68580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BASELINES (NO MACHINE LEARNING)</a:t>
            </a:r>
            <a:endParaRPr lang="en-US" sz="900" dirty="0"/>
          </a:p>
        </p:txBody>
      </p:sp>
      <p:sp>
        <p:nvSpPr>
          <p:cNvPr id="25" name="card-109"/>
          <p:cNvSpPr/>
          <p:nvPr/>
        </p:nvSpPr>
        <p:spPr>
          <a:xfrm>
            <a:off x="685800" y="4526280"/>
            <a:ext cx="5303520" cy="1234440"/>
          </a:xfrm>
          <a:prstGeom prst="roundRect">
            <a:avLst>
              <a:gd name="adj" fmla="val 1037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-110"/>
          <p:cNvSpPr txBox="1"/>
          <p:nvPr/>
        </p:nvSpPr>
        <p:spPr>
          <a:xfrm>
            <a:off x="960120" y="4709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Identity</a:t>
            </a:r>
            <a:endParaRPr lang="en-US" sz="1500" dirty="0"/>
          </a:p>
        </p:txBody>
      </p:sp>
      <p:sp>
        <p:nvSpPr>
          <p:cNvPr id="27" name="text-111"/>
          <p:cNvSpPr txBox="1"/>
          <p:nvPr/>
        </p:nvSpPr>
        <p:spPr>
          <a:xfrm>
            <a:off x="960120" y="5120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GAT = iCare  (report the device reading as-is)</a:t>
            </a:r>
            <a:endParaRPr lang="en-US" sz="1300" dirty="0"/>
          </a:p>
        </p:txBody>
      </p:sp>
      <p:sp>
        <p:nvSpPr>
          <p:cNvPr id="28" name="card-112"/>
          <p:cNvSpPr/>
          <p:nvPr/>
        </p:nvSpPr>
        <p:spPr>
          <a:xfrm>
            <a:off x="6217920" y="4526280"/>
            <a:ext cx="5303520" cy="1234440"/>
          </a:xfrm>
          <a:prstGeom prst="roundRect">
            <a:avLst>
              <a:gd name="adj" fmla="val 1037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text-113"/>
          <p:cNvSpPr txBox="1"/>
          <p:nvPr/>
        </p:nvSpPr>
        <p:spPr>
          <a:xfrm>
            <a:off x="6492240" y="4709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Straight line</a:t>
            </a:r>
            <a:endParaRPr lang="en-US" sz="1500" dirty="0"/>
          </a:p>
        </p:txBody>
      </p:sp>
      <p:sp>
        <p:nvSpPr>
          <p:cNvPr id="30" name="text-114"/>
          <p:cNvSpPr txBox="1"/>
          <p:nvPr/>
        </p:nvSpPr>
        <p:spPr>
          <a:xfrm>
            <a:off x="6492240" y="5120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GAT = 3.39 + 0.85 × iCare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TRAINING PIPELINE</a:t>
            </a:r>
            <a:endParaRPr lang="en-US" sz="9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Experimental Methodology</a:t>
            </a:r>
            <a:endParaRPr lang="en-US" sz="2800" dirty="0"/>
          </a:p>
        </p:txBody>
      </p:sp>
      <p:sp>
        <p:nvSpPr>
          <p:cNvPr id="4" name="card-115"/>
          <p:cNvSpPr/>
          <p:nvPr/>
        </p:nvSpPr>
        <p:spPr>
          <a:xfrm>
            <a:off x="685800" y="1737360"/>
            <a:ext cx="3474720" cy="1874520"/>
          </a:xfrm>
          <a:prstGeom prst="roundRect">
            <a:avLst>
              <a:gd name="adj" fmla="val 682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-116"/>
          <p:cNvSpPr txBox="1"/>
          <p:nvPr/>
        </p:nvSpPr>
        <p:spPr>
          <a:xfrm>
            <a:off x="91440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-117"/>
          <p:cNvSpPr txBox="1"/>
          <p:nvPr/>
        </p:nvSpPr>
        <p:spPr>
          <a:xfrm>
            <a:off x="137160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Clean &amp; pair</a:t>
            </a:r>
            <a:endParaRPr lang="en-US" sz="1600" dirty="0"/>
          </a:p>
        </p:txBody>
      </p:sp>
      <p:sp>
        <p:nvSpPr>
          <p:cNvPr id="7" name="text-118"/>
          <p:cNvSpPr txBox="1"/>
          <p:nvPr/>
        </p:nvSpPr>
        <p:spPr>
          <a:xfrm>
            <a:off x="1371600" y="23774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Five-stage pipeline, 6,639 eyes</a:t>
            </a:r>
            <a:endParaRPr lang="en-US" sz="1200" dirty="0"/>
          </a:p>
        </p:txBody>
      </p:sp>
      <p:sp>
        <p:nvSpPr>
          <p:cNvPr id="8" name="card-119"/>
          <p:cNvSpPr/>
          <p:nvPr/>
        </p:nvSpPr>
        <p:spPr>
          <a:xfrm>
            <a:off x="4366260" y="1737360"/>
            <a:ext cx="3474720" cy="1874520"/>
          </a:xfrm>
          <a:prstGeom prst="roundRect">
            <a:avLst>
              <a:gd name="adj" fmla="val 682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-120"/>
          <p:cNvSpPr txBox="1"/>
          <p:nvPr/>
        </p:nvSpPr>
        <p:spPr>
          <a:xfrm>
            <a:off x="459486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02</a:t>
            </a:r>
            <a:endParaRPr lang="en-US" sz="1000" dirty="0"/>
          </a:p>
        </p:txBody>
      </p:sp>
      <p:sp>
        <p:nvSpPr>
          <p:cNvPr id="10" name="text-121"/>
          <p:cNvSpPr txBox="1"/>
          <p:nvPr/>
        </p:nvSpPr>
        <p:spPr>
          <a:xfrm>
            <a:off x="505206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Define X / y</a:t>
            </a:r>
            <a:endParaRPr lang="en-US" sz="1600" dirty="0"/>
          </a:p>
        </p:txBody>
      </p:sp>
      <p:sp>
        <p:nvSpPr>
          <p:cNvPr id="11" name="text-122"/>
          <p:cNvSpPr txBox="1"/>
          <p:nvPr/>
        </p:nvSpPr>
        <p:spPr>
          <a:xfrm>
            <a:off x="5052060" y="23774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X: iCare IOP, CCT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y: GAT IOP</a:t>
            </a:r>
            <a:endParaRPr lang="en-US" sz="1200" dirty="0"/>
          </a:p>
        </p:txBody>
      </p:sp>
      <p:sp>
        <p:nvSpPr>
          <p:cNvPr id="12" name="card-123"/>
          <p:cNvSpPr/>
          <p:nvPr/>
        </p:nvSpPr>
        <p:spPr>
          <a:xfrm>
            <a:off x="8046720" y="1737360"/>
            <a:ext cx="3474720" cy="1874520"/>
          </a:xfrm>
          <a:prstGeom prst="roundRect">
            <a:avLst>
              <a:gd name="adj" fmla="val 682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-124"/>
          <p:cNvSpPr txBox="1"/>
          <p:nvPr/>
        </p:nvSpPr>
        <p:spPr>
          <a:xfrm>
            <a:off x="827532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03</a:t>
            </a:r>
            <a:endParaRPr lang="en-US" sz="1000" dirty="0"/>
          </a:p>
        </p:txBody>
      </p:sp>
      <p:sp>
        <p:nvSpPr>
          <p:cNvPr id="14" name="text-125"/>
          <p:cNvSpPr txBox="1"/>
          <p:nvPr/>
        </p:nvSpPr>
        <p:spPr>
          <a:xfrm>
            <a:off x="873252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Split by patient</a:t>
            </a:r>
            <a:endParaRPr lang="en-US" sz="1600" dirty="0"/>
          </a:p>
        </p:txBody>
      </p:sp>
      <p:sp>
        <p:nvSpPr>
          <p:cNvPr id="15" name="text-126"/>
          <p:cNvSpPr txBox="1"/>
          <p:nvPr/>
        </p:nvSpPr>
        <p:spPr>
          <a:xfrm>
            <a:off x="8732520" y="23774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70 / 15 / 15; no patient in two splits</a:t>
            </a:r>
            <a:endParaRPr lang="en-US" sz="1200" dirty="0"/>
          </a:p>
        </p:txBody>
      </p:sp>
      <p:sp>
        <p:nvSpPr>
          <p:cNvPr id="16" name="card-127"/>
          <p:cNvSpPr/>
          <p:nvPr/>
        </p:nvSpPr>
        <p:spPr>
          <a:xfrm>
            <a:off x="685800" y="3886200"/>
            <a:ext cx="3474720" cy="1874520"/>
          </a:xfrm>
          <a:prstGeom prst="roundRect">
            <a:avLst>
              <a:gd name="adj" fmla="val 682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-128"/>
          <p:cNvSpPr txBox="1"/>
          <p:nvPr/>
        </p:nvSpPr>
        <p:spPr>
          <a:xfrm>
            <a:off x="914400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04</a:t>
            </a:r>
            <a:endParaRPr lang="en-US" sz="1000" dirty="0"/>
          </a:p>
        </p:txBody>
      </p:sp>
      <p:sp>
        <p:nvSpPr>
          <p:cNvPr id="18" name="text-129"/>
          <p:cNvSpPr txBox="1"/>
          <p:nvPr/>
        </p:nvSpPr>
        <p:spPr>
          <a:xfrm>
            <a:off x="1371600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Baselines first</a:t>
            </a:r>
            <a:endParaRPr lang="en-US" sz="1600" dirty="0"/>
          </a:p>
        </p:txBody>
      </p:sp>
      <p:sp>
        <p:nvSpPr>
          <p:cNvPr id="19" name="text-130"/>
          <p:cNvSpPr txBox="1"/>
          <p:nvPr/>
        </p:nvSpPr>
        <p:spPr>
          <a:xfrm>
            <a:off x="1371600" y="45262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Identity and straight line set the bar</a:t>
            </a:r>
            <a:endParaRPr lang="en-US" sz="1200" dirty="0"/>
          </a:p>
        </p:txBody>
      </p:sp>
      <p:sp>
        <p:nvSpPr>
          <p:cNvPr id="20" name="card-131"/>
          <p:cNvSpPr/>
          <p:nvPr/>
        </p:nvSpPr>
        <p:spPr>
          <a:xfrm>
            <a:off x="4366260" y="3886200"/>
            <a:ext cx="3474720" cy="1874520"/>
          </a:xfrm>
          <a:prstGeom prst="roundRect">
            <a:avLst>
              <a:gd name="adj" fmla="val 682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-132"/>
          <p:cNvSpPr txBox="1"/>
          <p:nvPr/>
        </p:nvSpPr>
        <p:spPr>
          <a:xfrm>
            <a:off x="4594860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05</a:t>
            </a:r>
            <a:endParaRPr lang="en-US" sz="1000" dirty="0"/>
          </a:p>
        </p:txBody>
      </p:sp>
      <p:sp>
        <p:nvSpPr>
          <p:cNvPr id="22" name="text-133"/>
          <p:cNvSpPr txBox="1"/>
          <p:nvPr/>
        </p:nvSpPr>
        <p:spPr>
          <a:xfrm>
            <a:off x="5052060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Tune on validation</a:t>
            </a:r>
            <a:endParaRPr lang="en-US" sz="1600" dirty="0"/>
          </a:p>
        </p:txBody>
      </p:sp>
      <p:sp>
        <p:nvSpPr>
          <p:cNvPr id="23" name="text-134"/>
          <p:cNvSpPr txBox="1"/>
          <p:nvPr/>
        </p:nvSpPr>
        <p:spPr>
          <a:xfrm>
            <a:off x="5052060" y="45262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Sweeps, then random search with GroupKFold(5) on patient</a:t>
            </a:r>
            <a:endParaRPr lang="en-US" sz="1200" dirty="0"/>
          </a:p>
        </p:txBody>
      </p:sp>
      <p:sp>
        <p:nvSpPr>
          <p:cNvPr id="24" name="card-135"/>
          <p:cNvSpPr/>
          <p:nvPr/>
        </p:nvSpPr>
        <p:spPr>
          <a:xfrm>
            <a:off x="8046720" y="3886200"/>
            <a:ext cx="3474720" cy="1874520"/>
          </a:xfrm>
          <a:prstGeom prst="roundRect">
            <a:avLst>
              <a:gd name="adj" fmla="val 682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-136"/>
          <p:cNvSpPr txBox="1"/>
          <p:nvPr/>
        </p:nvSpPr>
        <p:spPr>
          <a:xfrm>
            <a:off x="8275320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06</a:t>
            </a:r>
            <a:endParaRPr lang="en-US" sz="1000" dirty="0"/>
          </a:p>
        </p:txBody>
      </p:sp>
      <p:sp>
        <p:nvSpPr>
          <p:cNvPr id="26" name="text-137"/>
          <p:cNvSpPr txBox="1"/>
          <p:nvPr/>
        </p:nvSpPr>
        <p:spPr>
          <a:xfrm>
            <a:off x="8732520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Test once</a:t>
            </a:r>
            <a:endParaRPr lang="en-US" sz="1600" dirty="0"/>
          </a:p>
        </p:txBody>
      </p:sp>
      <p:sp>
        <p:nvSpPr>
          <p:cNvPr id="27" name="text-138"/>
          <p:cNvSpPr txBox="1"/>
          <p:nvPr/>
        </p:nvSpPr>
        <p:spPr>
          <a:xfrm>
            <a:off x="8732520" y="45262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Held-out test scored a single time, after all choices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MEASURING PERFORMANCE</a:t>
            </a:r>
            <a:endParaRPr lang="en-US" sz="9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Evaluation Metrics</a:t>
            </a:r>
            <a:endParaRPr lang="en-US" sz="2800" dirty="0"/>
          </a:p>
        </p:txBody>
      </p:sp>
      <p:sp>
        <p:nvSpPr>
          <p:cNvPr id="4" name="card-139"/>
          <p:cNvSpPr/>
          <p:nvPr/>
        </p:nvSpPr>
        <p:spPr>
          <a:xfrm>
            <a:off x="685800" y="1737360"/>
            <a:ext cx="2569464" cy="3657600"/>
          </a:xfrm>
          <a:prstGeom prst="roundRect">
            <a:avLst>
              <a:gd name="adj" fmla="val 711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-140"/>
          <p:cNvSpPr txBox="1"/>
          <p:nvPr/>
        </p:nvSpPr>
        <p:spPr>
          <a:xfrm>
            <a:off x="914400" y="196596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MAE</a:t>
            </a:r>
            <a:endParaRPr lang="en-US" sz="2800" dirty="0"/>
          </a:p>
        </p:txBody>
      </p:sp>
      <p:sp>
        <p:nvSpPr>
          <p:cNvPr id="6" name="text-141"/>
          <p:cNvSpPr txBox="1"/>
          <p:nvPr/>
        </p:nvSpPr>
        <p:spPr>
          <a:xfrm>
            <a:off x="914400" y="2560320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Mean Absolute Error</a:t>
            </a:r>
            <a:endParaRPr lang="en-US" sz="1200" dirty="0"/>
          </a:p>
        </p:txBody>
      </p:sp>
      <p:sp>
        <p:nvSpPr>
          <p:cNvPr id="7" name="text-142"/>
          <p:cNvSpPr txBox="1"/>
          <p:nvPr/>
        </p:nvSpPr>
        <p:spPr>
          <a:xfrm>
            <a:off x="914400" y="306324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MAE = (1/n) Σ |y − ŷ|</a:t>
            </a:r>
            <a:endParaRPr lang="en-US" sz="1300" dirty="0"/>
          </a:p>
        </p:txBody>
      </p:sp>
      <p:sp>
        <p:nvSpPr>
          <p:cNvPr id="8" name="text-143"/>
          <p:cNvSpPr txBox="1"/>
          <p:nvPr/>
        </p:nvSpPr>
        <p:spPr>
          <a:xfrm>
            <a:off x="914400" y="38404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Headline metric, in mmHg</a:t>
            </a:r>
            <a:endParaRPr lang="en-US" sz="1100" dirty="0"/>
          </a:p>
        </p:txBody>
      </p:sp>
      <p:sp>
        <p:nvSpPr>
          <p:cNvPr id="9" name="tag-144"/>
          <p:cNvSpPr/>
          <p:nvPr/>
        </p:nvSpPr>
        <p:spPr>
          <a:xfrm>
            <a:off x="914400" y="4846320"/>
            <a:ext cx="914400" cy="237744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-145"/>
          <p:cNvSpPr txBox="1"/>
          <p:nvPr/>
        </p:nvSpPr>
        <p:spPr>
          <a:xfrm>
            <a:off x="914400" y="48463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LOWER</a:t>
            </a:r>
            <a:endParaRPr lang="en-US" sz="800" dirty="0"/>
          </a:p>
        </p:txBody>
      </p:sp>
      <p:sp>
        <p:nvSpPr>
          <p:cNvPr id="11" name="card-146"/>
          <p:cNvSpPr/>
          <p:nvPr/>
        </p:nvSpPr>
        <p:spPr>
          <a:xfrm>
            <a:off x="3438144" y="1737360"/>
            <a:ext cx="2569464" cy="3657600"/>
          </a:xfrm>
          <a:prstGeom prst="roundRect">
            <a:avLst>
              <a:gd name="adj" fmla="val 711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-147"/>
          <p:cNvSpPr txBox="1"/>
          <p:nvPr/>
        </p:nvSpPr>
        <p:spPr>
          <a:xfrm>
            <a:off x="3666744" y="196596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RMSE</a:t>
            </a:r>
            <a:endParaRPr lang="en-US" sz="2800" dirty="0"/>
          </a:p>
        </p:txBody>
      </p:sp>
      <p:sp>
        <p:nvSpPr>
          <p:cNvPr id="13" name="text-148"/>
          <p:cNvSpPr txBox="1"/>
          <p:nvPr/>
        </p:nvSpPr>
        <p:spPr>
          <a:xfrm>
            <a:off x="3666744" y="2560320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Root Mean Squared Error</a:t>
            </a:r>
            <a:endParaRPr lang="en-US" sz="1200" dirty="0"/>
          </a:p>
        </p:txBody>
      </p:sp>
      <p:sp>
        <p:nvSpPr>
          <p:cNvPr id="14" name="text-149"/>
          <p:cNvSpPr txBox="1"/>
          <p:nvPr/>
        </p:nvSpPr>
        <p:spPr>
          <a:xfrm>
            <a:off x="3666744" y="306324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RMSE = √( (1/n) Σ (y − ŷ)² )</a:t>
            </a:r>
            <a:endParaRPr lang="en-US" sz="1300" dirty="0"/>
          </a:p>
        </p:txBody>
      </p:sp>
      <p:sp>
        <p:nvSpPr>
          <p:cNvPr id="15" name="text-150"/>
          <p:cNvSpPr txBox="1"/>
          <p:nvPr/>
        </p:nvSpPr>
        <p:spPr>
          <a:xfrm>
            <a:off x="3666744" y="38404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Penalises large errors</a:t>
            </a:r>
            <a:endParaRPr lang="en-US" sz="1100" dirty="0"/>
          </a:p>
        </p:txBody>
      </p:sp>
      <p:sp>
        <p:nvSpPr>
          <p:cNvPr id="16" name="tag-151"/>
          <p:cNvSpPr/>
          <p:nvPr/>
        </p:nvSpPr>
        <p:spPr>
          <a:xfrm>
            <a:off x="3666744" y="4846320"/>
            <a:ext cx="914400" cy="237744"/>
          </a:xfrm>
          <a:prstGeom prst="roundRect">
            <a:avLst>
              <a:gd name="adj" fmla="val 1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-152"/>
          <p:cNvSpPr txBox="1"/>
          <p:nvPr/>
        </p:nvSpPr>
        <p:spPr>
          <a:xfrm>
            <a:off x="3666744" y="48463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LOWER</a:t>
            </a:r>
            <a:endParaRPr lang="en-US" sz="800" dirty="0"/>
          </a:p>
        </p:txBody>
      </p:sp>
      <p:sp>
        <p:nvSpPr>
          <p:cNvPr id="18" name="card-153"/>
          <p:cNvSpPr/>
          <p:nvPr/>
        </p:nvSpPr>
        <p:spPr>
          <a:xfrm>
            <a:off x="6190488" y="1737360"/>
            <a:ext cx="2569464" cy="3657600"/>
          </a:xfrm>
          <a:prstGeom prst="roundRect">
            <a:avLst>
              <a:gd name="adj" fmla="val 711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-154"/>
          <p:cNvSpPr txBox="1"/>
          <p:nvPr/>
        </p:nvSpPr>
        <p:spPr>
          <a:xfrm>
            <a:off x="6419088" y="196596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R²</a:t>
            </a:r>
            <a:endParaRPr lang="en-US" sz="2800" dirty="0"/>
          </a:p>
        </p:txBody>
      </p:sp>
      <p:sp>
        <p:nvSpPr>
          <p:cNvPr id="20" name="text-155"/>
          <p:cNvSpPr txBox="1"/>
          <p:nvPr/>
        </p:nvSpPr>
        <p:spPr>
          <a:xfrm>
            <a:off x="6419088" y="2560320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Coefficient of Determination</a:t>
            </a:r>
            <a:endParaRPr lang="en-US" sz="1200" dirty="0"/>
          </a:p>
        </p:txBody>
      </p:sp>
      <p:sp>
        <p:nvSpPr>
          <p:cNvPr id="21" name="text-156"/>
          <p:cNvSpPr txBox="1"/>
          <p:nvPr/>
        </p:nvSpPr>
        <p:spPr>
          <a:xfrm>
            <a:off x="6419088" y="306324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R² = 1 − Σ(y − ŷ)² / Σ(y − ȳ)²</a:t>
            </a:r>
            <a:endParaRPr lang="en-US" sz="1300" dirty="0"/>
          </a:p>
        </p:txBody>
      </p:sp>
      <p:sp>
        <p:nvSpPr>
          <p:cNvPr id="22" name="text-157"/>
          <p:cNvSpPr txBox="1"/>
          <p:nvPr/>
        </p:nvSpPr>
        <p:spPr>
          <a:xfrm>
            <a:off x="6419088" y="38404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Share of variation explained</a:t>
            </a:r>
            <a:endParaRPr lang="en-US" sz="1100" dirty="0"/>
          </a:p>
        </p:txBody>
      </p:sp>
      <p:sp>
        <p:nvSpPr>
          <p:cNvPr id="23" name="tag-158"/>
          <p:cNvSpPr/>
          <p:nvPr/>
        </p:nvSpPr>
        <p:spPr>
          <a:xfrm>
            <a:off x="6419088" y="4846320"/>
            <a:ext cx="914400" cy="237744"/>
          </a:xfrm>
          <a:prstGeom prst="roundRect">
            <a:avLst>
              <a:gd name="adj" fmla="val 1923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-159"/>
          <p:cNvSpPr txBox="1"/>
          <p:nvPr/>
        </p:nvSpPr>
        <p:spPr>
          <a:xfrm>
            <a:off x="6419088" y="48463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HIGHER</a:t>
            </a:r>
            <a:endParaRPr lang="en-US" sz="800" dirty="0"/>
          </a:p>
        </p:txBody>
      </p:sp>
      <p:sp>
        <p:nvSpPr>
          <p:cNvPr id="25" name="card-160"/>
          <p:cNvSpPr/>
          <p:nvPr/>
        </p:nvSpPr>
        <p:spPr>
          <a:xfrm>
            <a:off x="8942832" y="1737360"/>
            <a:ext cx="2569464" cy="3657600"/>
          </a:xfrm>
          <a:prstGeom prst="roundRect">
            <a:avLst>
              <a:gd name="adj" fmla="val 711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-161"/>
          <p:cNvSpPr txBox="1"/>
          <p:nvPr/>
        </p:nvSpPr>
        <p:spPr>
          <a:xfrm>
            <a:off x="9171432" y="196596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Bland–Altman</a:t>
            </a:r>
            <a:endParaRPr lang="en-US" sz="2200" dirty="0"/>
          </a:p>
        </p:txBody>
      </p:sp>
      <p:sp>
        <p:nvSpPr>
          <p:cNvPr id="27" name="text-162"/>
          <p:cNvSpPr txBox="1"/>
          <p:nvPr/>
        </p:nvSpPr>
        <p:spPr>
          <a:xfrm>
            <a:off x="9171432" y="2560320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Agreement with GAT</a:t>
            </a:r>
            <a:endParaRPr lang="en-US" sz="1200" dirty="0"/>
          </a:p>
        </p:txBody>
      </p:sp>
      <p:sp>
        <p:nvSpPr>
          <p:cNvPr id="28" name="text-163"/>
          <p:cNvSpPr txBox="1"/>
          <p:nvPr/>
        </p:nvSpPr>
        <p:spPr>
          <a:xfrm>
            <a:off x="9171432" y="306324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limits = bias ± 1.96 · SD</a:t>
            </a:r>
            <a:endParaRPr lang="en-US" sz="1300" dirty="0"/>
          </a:p>
        </p:txBody>
      </p:sp>
      <p:sp>
        <p:nvSpPr>
          <p:cNvPr id="29" name="text-164"/>
          <p:cNvSpPr txBox="1"/>
          <p:nvPr/>
        </p:nvSpPr>
        <p:spPr>
          <a:xfrm>
            <a:off x="9171432" y="38404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Bias and 95% limits of agreement</a:t>
            </a:r>
            <a:endParaRPr lang="en-US" sz="1100" dirty="0"/>
          </a:p>
        </p:txBody>
      </p:sp>
      <p:sp>
        <p:nvSpPr>
          <p:cNvPr id="30" name="tag-165"/>
          <p:cNvSpPr/>
          <p:nvPr/>
        </p:nvSpPr>
        <p:spPr>
          <a:xfrm>
            <a:off x="9171432" y="4846320"/>
            <a:ext cx="914400" cy="237744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-166"/>
          <p:cNvSpPr txBox="1"/>
          <p:nvPr/>
        </p:nvSpPr>
        <p:spPr>
          <a:xfrm>
            <a:off x="9171432" y="48463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NARROWER</a:t>
            </a:r>
            <a:endParaRPr lang="en-US" sz="800" dirty="0"/>
          </a:p>
        </p:txBody>
      </p:sp>
      <p:sp>
        <p:nvSpPr>
          <p:cNvPr id="32" name="text-167"/>
          <p:cNvSpPr txBox="1"/>
          <p:nvPr/>
        </p:nvSpPr>
        <p:spPr>
          <a:xfrm>
            <a:off x="685800" y="566928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Also reported: error by clinical IOP band, residual plots and permutation importance.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RESULTS</a:t>
            </a:r>
            <a:endParaRPr lang="en-US" sz="9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Model Comparison on the Test Set</a:t>
            </a:r>
            <a:endParaRPr lang="en-US" sz="2800" dirty="0"/>
          </a:p>
        </p:txBody>
      </p:sp>
      <p:sp>
        <p:nvSpPr>
          <p:cNvPr id="4" name="card-168"/>
          <p:cNvSpPr/>
          <p:nvPr/>
        </p:nvSpPr>
        <p:spPr>
          <a:xfrm>
            <a:off x="685800" y="1691640"/>
            <a:ext cx="5394960" cy="4343400"/>
          </a:xfrm>
          <a:prstGeom prst="roundRect">
            <a:avLst>
              <a:gd name="adj" fmla="val 294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822960" y="1783080"/>
          <a:ext cx="51206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783080"/>
          <a:ext cx="516636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777240"/>
                <a:gridCol w="822960"/>
                <a:gridCol w="86868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Val MAE</a:t>
                      </a:r>
                      <a:endParaRPr lang="en-US" sz="10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Test MAE</a:t>
                      </a:r>
                      <a:endParaRPr lang="en-US" sz="10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Test RMSE</a:t>
                      </a:r>
                      <a:endParaRPr lang="en-US" sz="10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Test R²</a:t>
                      </a:r>
                      <a:endParaRPr lang="en-US" sz="10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2"/>
                          </a:solidFill>
                        </a:rPr>
                        <a:t>XGBoost (tuned)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2"/>
                          </a:solidFill>
                        </a:rPr>
                        <a:t>2.809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2"/>
                          </a:solidFill>
                        </a:rPr>
                        <a:t>2.901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2"/>
                          </a:solidFill>
                        </a:rPr>
                        <a:t>3.986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2"/>
                          </a:solidFill>
                        </a:rPr>
                        <a:t>0.730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SVR (RBF, tuned)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2.829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2.912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4.084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0.717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Random Forest (depth 4)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2.806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2.920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4.000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0.728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Linear (iCare + CCT)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2.892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3.002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4.113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0.713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Linear (iCare only)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2.883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3.005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4.114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0.712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Identity (GAT = iCare)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2.996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3.214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4.352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0.678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ANN 2-32-16-1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2.847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</a:rPr>
                        <a:t>not run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</a:rPr>
                        <a:t>not run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</a:rPr>
                        <a:t>not run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7" name="text-169"/>
          <p:cNvSpPr txBox="1"/>
          <p:nvPr/>
        </p:nvSpPr>
        <p:spPr>
          <a:xfrm>
            <a:off x="6355080" y="512064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XGBoost is best on every test metric, but it beats a straight line by only 0.10 mmHg. The ANN was scored on validation only.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RESULTS</a:t>
            </a:r>
            <a:endParaRPr lang="en-US" sz="9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Key Findings</a:t>
            </a:r>
            <a:endParaRPr lang="en-US" sz="2800" dirty="0"/>
          </a:p>
        </p:txBody>
      </p:sp>
      <p:sp>
        <p:nvSpPr>
          <p:cNvPr id="4" name="card-170"/>
          <p:cNvSpPr/>
          <p:nvPr/>
        </p:nvSpPr>
        <p:spPr>
          <a:xfrm>
            <a:off x="685800" y="1737360"/>
            <a:ext cx="2569464" cy="4206240"/>
          </a:xfrm>
          <a:prstGeom prst="roundRect">
            <a:avLst>
              <a:gd name="adj" fmla="val 711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-171"/>
          <p:cNvSpPr txBox="1"/>
          <p:nvPr/>
        </p:nvSpPr>
        <p:spPr>
          <a:xfrm>
            <a:off x="914400" y="201168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0.04</a:t>
            </a:r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 mmHg</a:t>
            </a:r>
            <a:endParaRPr lang="en-US" sz="1200" dirty="0"/>
          </a:p>
        </p:txBody>
      </p:sp>
      <p:sp>
        <p:nvSpPr>
          <p:cNvPr id="6" name="text-172"/>
          <p:cNvSpPr txBox="1"/>
          <p:nvPr/>
        </p:nvSpPr>
        <p:spPr>
          <a:xfrm>
            <a:off x="914400" y="292608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Spread between four model families on validation</a:t>
            </a:r>
            <a:endParaRPr lang="en-US" sz="1400" dirty="0"/>
          </a:p>
        </p:txBody>
      </p:sp>
      <p:sp>
        <p:nvSpPr>
          <p:cNvPr id="7" name="text-173"/>
          <p:cNvSpPr txBox="1"/>
          <p:nvPr/>
        </p:nvSpPr>
        <p:spPr>
          <a:xfrm>
            <a:off x="914400" y="420624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The limit is the two inputs, not the algorithm.</a:t>
            </a:r>
            <a:endParaRPr lang="en-US" sz="1200" dirty="0"/>
          </a:p>
        </p:txBody>
      </p:sp>
      <p:sp>
        <p:nvSpPr>
          <p:cNvPr id="8" name="card-174"/>
          <p:cNvSpPr/>
          <p:nvPr/>
        </p:nvSpPr>
        <p:spPr>
          <a:xfrm>
            <a:off x="3438144" y="1737360"/>
            <a:ext cx="2569464" cy="4206240"/>
          </a:xfrm>
          <a:prstGeom prst="roundRect">
            <a:avLst>
              <a:gd name="adj" fmla="val 711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-175"/>
          <p:cNvSpPr txBox="1"/>
          <p:nvPr/>
        </p:nvSpPr>
        <p:spPr>
          <a:xfrm>
            <a:off x="3666744" y="201168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0.10</a:t>
            </a:r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 mmHg</a:t>
            </a:r>
            <a:endParaRPr lang="en-US" sz="1200" dirty="0"/>
          </a:p>
        </p:txBody>
      </p:sp>
      <p:sp>
        <p:nvSpPr>
          <p:cNvPr id="10" name="text-176"/>
          <p:cNvSpPr txBox="1"/>
          <p:nvPr/>
        </p:nvSpPr>
        <p:spPr>
          <a:xfrm>
            <a:off x="3666744" y="292608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Gain of the best model over a straight line on test</a:t>
            </a:r>
            <a:endParaRPr lang="en-US" sz="1400" dirty="0"/>
          </a:p>
        </p:txBody>
      </p:sp>
      <p:sp>
        <p:nvSpPr>
          <p:cNvPr id="11" name="text-177"/>
          <p:cNvSpPr txBox="1"/>
          <p:nvPr/>
        </p:nvSpPr>
        <p:spPr>
          <a:xfrm>
            <a:off x="3666744" y="420624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Inside the 1–2 mmHg variability of GAT itself.</a:t>
            </a:r>
            <a:endParaRPr lang="en-US" sz="1200" dirty="0"/>
          </a:p>
        </p:txBody>
      </p:sp>
      <p:sp>
        <p:nvSpPr>
          <p:cNvPr id="12" name="card-178"/>
          <p:cNvSpPr/>
          <p:nvPr/>
        </p:nvSpPr>
        <p:spPr>
          <a:xfrm>
            <a:off x="6190488" y="1737360"/>
            <a:ext cx="2569464" cy="4206240"/>
          </a:xfrm>
          <a:prstGeom prst="roundRect">
            <a:avLst>
              <a:gd name="adj" fmla="val 711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-179"/>
          <p:cNvSpPr txBox="1"/>
          <p:nvPr/>
        </p:nvSpPr>
        <p:spPr>
          <a:xfrm>
            <a:off x="6419088" y="201168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+0.007</a:t>
            </a:r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 mmHg</a:t>
            </a:r>
            <a:endParaRPr lang="en-US" sz="1200" dirty="0"/>
          </a:p>
        </p:txBody>
      </p:sp>
      <p:sp>
        <p:nvSpPr>
          <p:cNvPr id="14" name="text-180"/>
          <p:cNvSpPr txBox="1"/>
          <p:nvPr/>
        </p:nvSpPr>
        <p:spPr>
          <a:xfrm>
            <a:off x="6419088" y="292608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MAE increase when CCT is shuffled (iCare: +3.42)</a:t>
            </a:r>
            <a:endParaRPr lang="en-US" sz="1400" dirty="0"/>
          </a:p>
        </p:txBody>
      </p:sp>
      <p:sp>
        <p:nvSpPr>
          <p:cNvPr id="15" name="text-181"/>
          <p:cNvSpPr txBox="1"/>
          <p:nvPr/>
        </p:nvSpPr>
        <p:spPr>
          <a:xfrm>
            <a:off x="6419088" y="420624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CCT adds nothing within the 480–580 µm range.</a:t>
            </a:r>
            <a:endParaRPr lang="en-US" sz="1200" dirty="0"/>
          </a:p>
        </p:txBody>
      </p:sp>
      <p:sp>
        <p:nvSpPr>
          <p:cNvPr id="16" name="card-182"/>
          <p:cNvSpPr/>
          <p:nvPr/>
        </p:nvSpPr>
        <p:spPr>
          <a:xfrm>
            <a:off x="8942832" y="1737360"/>
            <a:ext cx="2569464" cy="4206240"/>
          </a:xfrm>
          <a:prstGeom prst="roundRect">
            <a:avLst>
              <a:gd name="adj" fmla="val 711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-183"/>
          <p:cNvSpPr txBox="1"/>
          <p:nvPr/>
        </p:nvSpPr>
        <p:spPr>
          <a:xfrm>
            <a:off x="9171432" y="201168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&gt; 30</a:t>
            </a:r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 mmHg</a:t>
            </a:r>
            <a:endParaRPr lang="en-US" sz="1200" dirty="0"/>
          </a:p>
        </p:txBody>
      </p:sp>
      <p:sp>
        <p:nvSpPr>
          <p:cNvPr id="18" name="text-184"/>
          <p:cNvSpPr txBox="1"/>
          <p:nvPr/>
        </p:nvSpPr>
        <p:spPr>
          <a:xfrm>
            <a:off x="9171432" y="292608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Every model is worse than the raw iCare reading</a:t>
            </a:r>
            <a:endParaRPr lang="en-US" sz="1400" dirty="0"/>
          </a:p>
        </p:txBody>
      </p:sp>
      <p:sp>
        <p:nvSpPr>
          <p:cNvPr id="19" name="text-185"/>
          <p:cNvSpPr txBox="1"/>
          <p:nvPr/>
        </p:nvSpPr>
        <p:spPr>
          <a:xfrm>
            <a:off x="9171432" y="420624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Models under-predict high pressure, where errors matter most.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RESULTS</a:t>
            </a:r>
            <a:endParaRPr lang="en-US" sz="9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Error by Clinical IOP Band</a:t>
            </a:r>
            <a:endParaRPr lang="en-US" sz="2800" dirty="0"/>
          </a:p>
        </p:txBody>
      </p:sp>
      <p:sp>
        <p:nvSpPr>
          <p:cNvPr id="4" name="card-186"/>
          <p:cNvSpPr/>
          <p:nvPr/>
        </p:nvSpPr>
        <p:spPr>
          <a:xfrm>
            <a:off x="685800" y="1691640"/>
            <a:ext cx="7223760" cy="4343400"/>
          </a:xfrm>
          <a:prstGeom prst="roundRect">
            <a:avLst>
              <a:gd name="adj" fmla="val 294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822960" y="1783080"/>
          <a:ext cx="69494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-187"/>
          <p:cNvSpPr/>
          <p:nvPr/>
        </p:nvSpPr>
        <p:spPr>
          <a:xfrm>
            <a:off x="8183880" y="1691640"/>
            <a:ext cx="3337560" cy="4343400"/>
          </a:xfrm>
          <a:prstGeom prst="roundRect">
            <a:avLst>
              <a:gd name="adj" fmla="val 383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-188"/>
          <p:cNvSpPr txBox="1"/>
          <p:nvPr/>
        </p:nvSpPr>
        <p:spPr>
          <a:xfrm>
            <a:off x="8458200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WHAT IT SHOWS</a:t>
            </a:r>
            <a:endParaRPr lang="en-US" sz="900" dirty="0"/>
          </a:p>
        </p:txBody>
      </p:sp>
      <p:sp>
        <p:nvSpPr>
          <p:cNvPr id="8" name="text-189"/>
          <p:cNvSpPr txBox="1"/>
          <p:nvPr/>
        </p:nvSpPr>
        <p:spPr>
          <a:xfrm>
            <a:off x="8458200" y="2286000"/>
            <a:ext cx="2880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SVR is best in the 10–20 mmHg band (1.97 vs 2.46 raw iCare).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Above 30 mmHg both models are worse than raw iCare and under-predict.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Cause: 93% of training eyes are below 30 mmHg.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RESULTS</a:t>
            </a:r>
            <a:endParaRPr lang="en-US" sz="9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Agreement with GAT on the Test Set</a:t>
            </a:r>
            <a:endParaRPr lang="en-US" sz="2800" dirty="0"/>
          </a:p>
        </p:txBody>
      </p:sp>
      <p:sp>
        <p:nvSpPr>
          <p:cNvPr id="4" name="card-190"/>
          <p:cNvSpPr/>
          <p:nvPr/>
        </p:nvSpPr>
        <p:spPr>
          <a:xfrm>
            <a:off x="685800" y="1737360"/>
            <a:ext cx="3429000" cy="420624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-191"/>
          <p:cNvSpPr txBox="1"/>
          <p:nvPr/>
        </p:nvSpPr>
        <p:spPr>
          <a:xfrm>
            <a:off x="960120" y="1965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XGBoost</a:t>
            </a:r>
            <a:endParaRPr lang="en-US" sz="2000" dirty="0"/>
          </a:p>
        </p:txBody>
      </p:sp>
      <p:sp>
        <p:nvSpPr>
          <p:cNvPr id="6" name="text-192"/>
          <p:cNvSpPr txBox="1"/>
          <p:nvPr/>
        </p:nvSpPr>
        <p:spPr>
          <a:xfrm>
            <a:off x="960120" y="2606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Bias</a:t>
            </a:r>
            <a:endParaRPr lang="en-US" sz="1000" dirty="0"/>
          </a:p>
        </p:txBody>
      </p:sp>
      <p:sp>
        <p:nvSpPr>
          <p:cNvPr id="7" name="text-193"/>
          <p:cNvSpPr txBox="1"/>
          <p:nvPr/>
        </p:nvSpPr>
        <p:spPr>
          <a:xfrm>
            <a:off x="960120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+0.37 mmHg</a:t>
            </a:r>
            <a:endParaRPr lang="en-US" sz="1600" dirty="0"/>
          </a:p>
        </p:txBody>
      </p:sp>
      <p:sp>
        <p:nvSpPr>
          <p:cNvPr id="8" name="text-194"/>
          <p:cNvSpPr txBox="1"/>
          <p:nvPr/>
        </p:nvSpPr>
        <p:spPr>
          <a:xfrm>
            <a:off x="960120" y="34107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95% limits</a:t>
            </a:r>
            <a:endParaRPr lang="en-US" sz="1000" dirty="0"/>
          </a:p>
        </p:txBody>
      </p:sp>
      <p:sp>
        <p:nvSpPr>
          <p:cNvPr id="9" name="text-195"/>
          <p:cNvSpPr txBox="1"/>
          <p:nvPr/>
        </p:nvSpPr>
        <p:spPr>
          <a:xfrm>
            <a:off x="960120" y="3685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−7.41 to +8.16 mmHg</a:t>
            </a:r>
            <a:endParaRPr lang="en-US" sz="1600" dirty="0"/>
          </a:p>
        </p:txBody>
      </p:sp>
      <p:sp>
        <p:nvSpPr>
          <p:cNvPr id="10" name="text-196"/>
          <p:cNvSpPr txBox="1"/>
          <p:nvPr/>
        </p:nvSpPr>
        <p:spPr>
          <a:xfrm>
            <a:off x="960120" y="42153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Within ±2 mmHg</a:t>
            </a:r>
            <a:endParaRPr lang="en-US" sz="1000" dirty="0"/>
          </a:p>
        </p:txBody>
      </p:sp>
      <p:sp>
        <p:nvSpPr>
          <p:cNvPr id="11" name="text-197"/>
          <p:cNvSpPr txBox="1"/>
          <p:nvPr/>
        </p:nvSpPr>
        <p:spPr>
          <a:xfrm>
            <a:off x="960120" y="44897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47.0%</a:t>
            </a:r>
            <a:endParaRPr lang="en-US" sz="1600" dirty="0"/>
          </a:p>
        </p:txBody>
      </p:sp>
      <p:sp>
        <p:nvSpPr>
          <p:cNvPr id="12" name="text-198"/>
          <p:cNvSpPr txBox="1"/>
          <p:nvPr/>
        </p:nvSpPr>
        <p:spPr>
          <a:xfrm>
            <a:off x="960120" y="50200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Within ±5 mmHg</a:t>
            </a:r>
            <a:endParaRPr lang="en-US" sz="1000" dirty="0"/>
          </a:p>
        </p:txBody>
      </p:sp>
      <p:sp>
        <p:nvSpPr>
          <p:cNvPr id="13" name="text-199"/>
          <p:cNvSpPr txBox="1"/>
          <p:nvPr/>
        </p:nvSpPr>
        <p:spPr>
          <a:xfrm>
            <a:off x="960120" y="52943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86.0%</a:t>
            </a:r>
            <a:endParaRPr lang="en-US" sz="1600" dirty="0"/>
          </a:p>
        </p:txBody>
      </p:sp>
      <p:sp>
        <p:nvSpPr>
          <p:cNvPr id="14" name="card-200"/>
          <p:cNvSpPr/>
          <p:nvPr/>
        </p:nvSpPr>
        <p:spPr>
          <a:xfrm>
            <a:off x="4343400" y="1737360"/>
            <a:ext cx="3429000" cy="420624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-201"/>
          <p:cNvSpPr txBox="1"/>
          <p:nvPr/>
        </p:nvSpPr>
        <p:spPr>
          <a:xfrm>
            <a:off x="4617720" y="1965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SVR</a:t>
            </a:r>
            <a:endParaRPr lang="en-US" sz="2000" dirty="0"/>
          </a:p>
        </p:txBody>
      </p:sp>
      <p:sp>
        <p:nvSpPr>
          <p:cNvPr id="16" name="text-202"/>
          <p:cNvSpPr txBox="1"/>
          <p:nvPr/>
        </p:nvSpPr>
        <p:spPr>
          <a:xfrm>
            <a:off x="4617720" y="2606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Bias</a:t>
            </a:r>
            <a:endParaRPr lang="en-US" sz="1000" dirty="0"/>
          </a:p>
        </p:txBody>
      </p:sp>
      <p:sp>
        <p:nvSpPr>
          <p:cNvPr id="17" name="text-203"/>
          <p:cNvSpPr txBox="1"/>
          <p:nvPr/>
        </p:nvSpPr>
        <p:spPr>
          <a:xfrm>
            <a:off x="4617720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+0.83 mmHg</a:t>
            </a:r>
            <a:endParaRPr lang="en-US" sz="1600" dirty="0"/>
          </a:p>
        </p:txBody>
      </p:sp>
      <p:sp>
        <p:nvSpPr>
          <p:cNvPr id="18" name="text-204"/>
          <p:cNvSpPr txBox="1"/>
          <p:nvPr/>
        </p:nvSpPr>
        <p:spPr>
          <a:xfrm>
            <a:off x="4617720" y="34107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95% limits</a:t>
            </a:r>
            <a:endParaRPr lang="en-US" sz="1000" dirty="0"/>
          </a:p>
        </p:txBody>
      </p:sp>
      <p:sp>
        <p:nvSpPr>
          <p:cNvPr id="19" name="text-205"/>
          <p:cNvSpPr txBox="1"/>
          <p:nvPr/>
        </p:nvSpPr>
        <p:spPr>
          <a:xfrm>
            <a:off x="4617720" y="3685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−7.02 to +8.67 mmHg</a:t>
            </a:r>
            <a:endParaRPr lang="en-US" sz="1600" dirty="0"/>
          </a:p>
        </p:txBody>
      </p:sp>
      <p:sp>
        <p:nvSpPr>
          <p:cNvPr id="20" name="text-206"/>
          <p:cNvSpPr txBox="1"/>
          <p:nvPr/>
        </p:nvSpPr>
        <p:spPr>
          <a:xfrm>
            <a:off x="4617720" y="42153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Within ±2 mmHg</a:t>
            </a:r>
            <a:endParaRPr lang="en-US" sz="1000" dirty="0"/>
          </a:p>
        </p:txBody>
      </p:sp>
      <p:sp>
        <p:nvSpPr>
          <p:cNvPr id="21" name="text-207"/>
          <p:cNvSpPr txBox="1"/>
          <p:nvPr/>
        </p:nvSpPr>
        <p:spPr>
          <a:xfrm>
            <a:off x="4617720" y="44897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48.6%</a:t>
            </a:r>
            <a:endParaRPr lang="en-US" sz="1600" dirty="0"/>
          </a:p>
        </p:txBody>
      </p:sp>
      <p:sp>
        <p:nvSpPr>
          <p:cNvPr id="22" name="text-208"/>
          <p:cNvSpPr txBox="1"/>
          <p:nvPr/>
        </p:nvSpPr>
        <p:spPr>
          <a:xfrm>
            <a:off x="4617720" y="50200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Within ±5 mmHg</a:t>
            </a:r>
            <a:endParaRPr lang="en-US" sz="1000" dirty="0"/>
          </a:p>
        </p:txBody>
      </p:sp>
      <p:sp>
        <p:nvSpPr>
          <p:cNvPr id="23" name="text-209"/>
          <p:cNvSpPr txBox="1"/>
          <p:nvPr/>
        </p:nvSpPr>
        <p:spPr>
          <a:xfrm>
            <a:off x="4617720" y="52943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82.9%</a:t>
            </a:r>
            <a:endParaRPr lang="en-US" sz="1600" dirty="0"/>
          </a:p>
        </p:txBody>
      </p:sp>
      <p:sp>
        <p:nvSpPr>
          <p:cNvPr id="24" name="card-210"/>
          <p:cNvSpPr/>
          <p:nvPr/>
        </p:nvSpPr>
        <p:spPr>
          <a:xfrm>
            <a:off x="8001000" y="1737360"/>
            <a:ext cx="3520440" cy="4206240"/>
          </a:xfrm>
          <a:prstGeom prst="roundRect">
            <a:avLst>
              <a:gd name="adj" fmla="val 5195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-211"/>
          <p:cNvSpPr txBox="1"/>
          <p:nvPr/>
        </p:nvSpPr>
        <p:spPr>
          <a:xfrm>
            <a:off x="827532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ROUNDING TO THE GAT GRID</a:t>
            </a:r>
            <a:endParaRPr lang="en-US" sz="900" dirty="0"/>
          </a:p>
        </p:txBody>
      </p:sp>
      <p:sp>
        <p:nvSpPr>
          <p:cNvPr id="26" name="text-212"/>
          <p:cNvSpPr txBox="1"/>
          <p:nvPr/>
        </p:nvSpPr>
        <p:spPr>
          <a:xfrm>
            <a:off x="8275320" y="23317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78% of GAT readings are even numbers: the dial is read in 2 mmHg steps.</a:t>
            </a:r>
            <a:endParaRPr lang="en-US" sz="1300" dirty="0"/>
          </a:p>
        </p:txBody>
      </p:sp>
      <p:sp>
        <p:nvSpPr>
          <p:cNvPr id="27" name="text-213"/>
          <p:cNvSpPr txBox="1"/>
          <p:nvPr/>
        </p:nvSpPr>
        <p:spPr>
          <a:xfrm>
            <a:off x="8275320" y="3291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47%</a:t>
            </a:r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  →  </a:t>
            </a:r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60%</a:t>
            </a:r>
            <a:endParaRPr lang="en-US" sz="3200" dirty="0"/>
          </a:p>
        </p:txBody>
      </p:sp>
      <p:sp>
        <p:nvSpPr>
          <p:cNvPr id="28" name="text-214"/>
          <p:cNvSpPr txBox="1"/>
          <p:nvPr/>
        </p:nvSpPr>
        <p:spPr>
          <a:xfrm>
            <a:off x="8275320" y="40233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within ±2 mmHg when a quadratic linear model's predictions are rounded to the nearest even number (MAE 2.909 → 2.867).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CONCLUSION</a:t>
            </a:r>
            <a:endParaRPr lang="en-US" sz="9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Conclusion &amp; Next Steps</a:t>
            </a:r>
            <a:endParaRPr lang="en-US" sz="2800" dirty="0"/>
          </a:p>
        </p:txBody>
      </p:sp>
      <p:sp>
        <p:nvSpPr>
          <p:cNvPr id="4" name="card-215"/>
          <p:cNvSpPr/>
          <p:nvPr/>
        </p:nvSpPr>
        <p:spPr>
          <a:xfrm>
            <a:off x="685800" y="1691640"/>
            <a:ext cx="5120640" cy="434340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-216"/>
          <p:cNvSpPr txBox="1"/>
          <p:nvPr/>
        </p:nvSpPr>
        <p:spPr>
          <a:xfrm>
            <a:off x="96012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WHAT WE ESTABLISHED</a:t>
            </a:r>
            <a:endParaRPr lang="en-US" sz="900" dirty="0"/>
          </a:p>
        </p:txBody>
      </p:sp>
      <p:sp>
        <p:nvSpPr>
          <p:cNvPr id="6" name="text-217"/>
          <p:cNvSpPr txBox="1"/>
          <p:nvPr/>
        </p:nvSpPr>
        <p:spPr>
          <a:xfrm>
            <a:off x="960120" y="233172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Best model: XGBoost, test MAE 2.901 mmHg, R² 0.730.</a:t>
            </a:r>
            <a:endParaRPr lang="en-US" sz="1600" dirty="0"/>
          </a:p>
          <a:p>
            <a:pPr marL="203200" indent="-2032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ML beats raw iCare by 0.31 mmHg and a straight line by 0.10 mmHg.</a:t>
            </a:r>
            <a:endParaRPr lang="en-US" sz="1600" dirty="0"/>
          </a:p>
          <a:p>
            <a:pPr marL="203200" indent="-2032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With only iCare and CCT, the information is exhausted: five methods agree.</a:t>
            </a:r>
            <a:endParaRPr lang="en-US" sz="1600" dirty="0"/>
          </a:p>
          <a:p>
            <a:pPr marL="203200" indent="-2032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Not ready for clinical use: high-pressure eyes are under-predicted.</a:t>
            </a:r>
            <a:endParaRPr lang="en-US" sz="1600" dirty="0"/>
          </a:p>
        </p:txBody>
      </p:sp>
      <p:sp>
        <p:nvSpPr>
          <p:cNvPr id="7" name="text-218"/>
          <p:cNvSpPr txBox="1"/>
          <p:nvPr/>
        </p:nvSpPr>
        <p:spPr>
          <a:xfrm>
            <a:off x="61264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NEXT STEPS</a:t>
            </a:r>
            <a:endParaRPr lang="en-US" sz="900" dirty="0"/>
          </a:p>
        </p:txBody>
      </p:sp>
      <p:sp>
        <p:nvSpPr>
          <p:cNvPr id="8" name="card-219"/>
          <p:cNvSpPr/>
          <p:nvPr/>
        </p:nvSpPr>
        <p:spPr>
          <a:xfrm>
            <a:off x="6126480" y="2103120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ag-220"/>
          <p:cNvSpPr/>
          <p:nvPr/>
        </p:nvSpPr>
        <p:spPr>
          <a:xfrm>
            <a:off x="6309360" y="2304288"/>
            <a:ext cx="1143000" cy="237744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-221"/>
          <p:cNvSpPr txBox="1"/>
          <p:nvPr/>
        </p:nvSpPr>
        <p:spPr>
          <a:xfrm>
            <a:off x="6309360" y="230428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CCT RANGE</a:t>
            </a:r>
            <a:endParaRPr lang="en-US" sz="800" dirty="0"/>
          </a:p>
        </p:txBody>
      </p:sp>
      <p:sp>
        <p:nvSpPr>
          <p:cNvPr id="11" name="text-222"/>
          <p:cNvSpPr txBox="1"/>
          <p:nvPr/>
        </p:nvSpPr>
        <p:spPr>
          <a:xfrm>
            <a:off x="7635240" y="21031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Widen the 480–580 µm filter and repeat the CCT ablation.</a:t>
            </a:r>
            <a:endParaRPr lang="en-US" sz="1200" dirty="0"/>
          </a:p>
        </p:txBody>
      </p:sp>
      <p:sp>
        <p:nvSpPr>
          <p:cNvPr id="12" name="card-223"/>
          <p:cNvSpPr/>
          <p:nvPr/>
        </p:nvSpPr>
        <p:spPr>
          <a:xfrm>
            <a:off x="6126480" y="2889504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ag-224"/>
          <p:cNvSpPr/>
          <p:nvPr/>
        </p:nvSpPr>
        <p:spPr>
          <a:xfrm>
            <a:off x="6309360" y="3090672"/>
            <a:ext cx="1143000" cy="237744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-225"/>
          <p:cNvSpPr txBox="1"/>
          <p:nvPr/>
        </p:nvSpPr>
        <p:spPr>
          <a:xfrm>
            <a:off x="6309360" y="309067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MORE DATA</a:t>
            </a:r>
            <a:endParaRPr lang="en-US" sz="800" dirty="0"/>
          </a:p>
        </p:txBody>
      </p:sp>
      <p:sp>
        <p:nvSpPr>
          <p:cNvPr id="15" name="text-226"/>
          <p:cNvSpPr txBox="1"/>
          <p:nvPr/>
        </p:nvSpPr>
        <p:spPr>
          <a:xfrm>
            <a:off x="7635240" y="288950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Keep repeat visits per eye instead of dropping ~36% of rows.</a:t>
            </a:r>
            <a:endParaRPr lang="en-US" sz="1200" dirty="0"/>
          </a:p>
        </p:txBody>
      </p:sp>
      <p:sp>
        <p:nvSpPr>
          <p:cNvPr id="16" name="card-227"/>
          <p:cNvSpPr/>
          <p:nvPr/>
        </p:nvSpPr>
        <p:spPr>
          <a:xfrm>
            <a:off x="6126480" y="3675888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ag-228"/>
          <p:cNvSpPr/>
          <p:nvPr/>
        </p:nvSpPr>
        <p:spPr>
          <a:xfrm>
            <a:off x="6309360" y="3877056"/>
            <a:ext cx="1143000" cy="237744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-229"/>
          <p:cNvSpPr txBox="1"/>
          <p:nvPr/>
        </p:nvSpPr>
        <p:spPr>
          <a:xfrm>
            <a:off x="6309360" y="387705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HIGH IOP</a:t>
            </a:r>
            <a:endParaRPr lang="en-US" sz="800" dirty="0"/>
          </a:p>
        </p:txBody>
      </p:sp>
      <p:sp>
        <p:nvSpPr>
          <p:cNvPr id="19" name="text-230"/>
          <p:cNvSpPr txBox="1"/>
          <p:nvPr/>
        </p:nvSpPr>
        <p:spPr>
          <a:xfrm>
            <a:off x="7635240" y="36758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Fix the bias with sample weighting or monotonic constraints.</a:t>
            </a:r>
            <a:endParaRPr lang="en-US" sz="1200" dirty="0"/>
          </a:p>
        </p:txBody>
      </p:sp>
      <p:sp>
        <p:nvSpPr>
          <p:cNvPr id="20" name="card-231"/>
          <p:cNvSpPr/>
          <p:nvPr/>
        </p:nvSpPr>
        <p:spPr>
          <a:xfrm>
            <a:off x="6126480" y="4462272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ag-232"/>
          <p:cNvSpPr/>
          <p:nvPr/>
        </p:nvSpPr>
        <p:spPr>
          <a:xfrm>
            <a:off x="6309360" y="4663440"/>
            <a:ext cx="1143000" cy="237744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-233"/>
          <p:cNvSpPr txBox="1"/>
          <p:nvPr/>
        </p:nvSpPr>
        <p:spPr>
          <a:xfrm>
            <a:off x="6309360" y="466344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NEW INPUTS</a:t>
            </a:r>
            <a:endParaRPr lang="en-US" sz="800" dirty="0"/>
          </a:p>
        </p:txBody>
      </p:sp>
      <p:sp>
        <p:nvSpPr>
          <p:cNvPr id="23" name="text-234"/>
          <p:cNvSpPr txBox="1"/>
          <p:nvPr/>
        </p:nvSpPr>
        <p:spPr>
          <a:xfrm>
            <a:off x="7635240" y="44622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Add age, corneal hysteresis and axial length.</a:t>
            </a:r>
            <a:endParaRPr lang="en-US" sz="1200" dirty="0"/>
          </a:p>
        </p:txBody>
      </p:sp>
      <p:sp>
        <p:nvSpPr>
          <p:cNvPr id="24" name="card-235"/>
          <p:cNvSpPr/>
          <p:nvPr/>
        </p:nvSpPr>
        <p:spPr>
          <a:xfrm>
            <a:off x="6126480" y="5248656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ag-236"/>
          <p:cNvSpPr/>
          <p:nvPr/>
        </p:nvSpPr>
        <p:spPr>
          <a:xfrm>
            <a:off x="6309360" y="5449824"/>
            <a:ext cx="1143000" cy="237744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-237"/>
          <p:cNvSpPr txBox="1"/>
          <p:nvPr/>
        </p:nvSpPr>
        <p:spPr>
          <a:xfrm>
            <a:off x="6309360" y="544982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ANN</a:t>
            </a:r>
            <a:endParaRPr lang="en-US" sz="800" dirty="0"/>
          </a:p>
        </p:txBody>
      </p:sp>
      <p:sp>
        <p:nvSpPr>
          <p:cNvPr id="27" name="text-238"/>
          <p:cNvSpPr txBox="1"/>
          <p:nvPr/>
        </p:nvSpPr>
        <p:spPr>
          <a:xfrm>
            <a:off x="7635240" y="524865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Score the neural network on the test set.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are ML">
  <a:themeElements>
    <a:clrScheme name="iCare ML">
      <a:dk1>
        <a:srgbClr val="070F1D"/>
      </a:dk1>
      <a:lt1>
        <a:srgbClr val="FFFFFF"/>
      </a:lt1>
      <a:dk2>
        <a:srgbClr val="14253E"/>
      </a:dk2>
      <a:lt2>
        <a:srgbClr val="F4F8FC"/>
      </a:lt2>
      <a:accent1>
        <a:srgbClr val="3AD2E0"/>
      </a:accent1>
      <a:accent2>
        <a:srgbClr val="6FE6BE"/>
      </a:accent2>
      <a:accent3>
        <a:srgbClr val="FFAE5C"/>
      </a:accent3>
      <a:accent4>
        <a:srgbClr val="A4B5C9"/>
      </a:accent4>
      <a:accent5>
        <a:srgbClr val="1B3150"/>
      </a:accent5>
      <a:accent6>
        <a:srgbClr val="0B1A2E"/>
      </a:accent6>
      <a:hlink>
        <a:srgbClr val="3AD2E0"/>
      </a:hlink>
      <a:folHlink>
        <a:srgbClr val="6FE6BE"/>
      </a:folHlink>
    </a:clrScheme>
    <a:fontScheme name="iCare ML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Goldmann Applanation IOP</dc:title>
  <dc:subject>PptxGenJS Presentation</dc:subject>
  <dc:creator>Abhay Anand, Surya Vadhani, Saisrikant Hari</dc:creator>
  <cp:lastModifiedBy>Abhay Anand, Surya Vadhani, Saisrikant Hari</cp:lastModifiedBy>
  <cp:revision>1</cp:revision>
  <dcterms:created xsi:type="dcterms:W3CDTF">2026-10-27T04:45:08Z</dcterms:created>
  <dcterms:modified xsi:type="dcterms:W3CDTF">2026-10-27T04:45:08Z</dcterms:modified>
</cp:coreProperties>
</file>